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485" r:id="rId3"/>
    <p:sldId id="486" r:id="rId4"/>
    <p:sldId id="269" r:id="rId5"/>
    <p:sldId id="487" r:id="rId6"/>
    <p:sldId id="261" r:id="rId7"/>
    <p:sldId id="262" r:id="rId8"/>
    <p:sldId id="265" r:id="rId9"/>
    <p:sldId id="264" r:id="rId10"/>
    <p:sldId id="266" r:id="rId11"/>
    <p:sldId id="490" r:id="rId12"/>
    <p:sldId id="48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7"/>
    <p:restoredTop sz="94682"/>
  </p:normalViewPr>
  <p:slideViewPr>
    <p:cSldViewPr snapToGrid="0">
      <p:cViewPr varScale="1">
        <p:scale>
          <a:sx n="123" d="100"/>
          <a:sy n="123" d="100"/>
        </p:scale>
        <p:origin x="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0701F1-36E1-A540-821A-8FBFAEF3FC6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F9B658-F6BA-4945-9CB4-C4D252F8B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62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F746A-9A42-BC49-B5AB-F8339C12B1B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473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507A2-D477-7E7E-A216-7FC79C8BF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DC4A53-789F-BA05-4F83-EDA9C2896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8D53AA-9167-7193-AC9B-41DFD4A84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7A526-8D92-E3BA-F680-F98EBD7B9D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F746A-9A42-BC49-B5AB-F8339C12B1B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60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conda</a:t>
            </a:r>
            <a:r>
              <a:rPr lang="en-US" dirty="0"/>
              <a:t> install -c </a:t>
            </a:r>
            <a:r>
              <a:rPr lang="en-US" dirty="0" err="1"/>
              <a:t>conda</a:t>
            </a:r>
            <a:r>
              <a:rPr lang="en-US" dirty="0"/>
              <a:t>-forge scikit-learn</a:t>
            </a:r>
          </a:p>
          <a:p>
            <a:r>
              <a:rPr lang="en-US" dirty="0"/>
              <a:t>pip install </a:t>
            </a:r>
            <a:r>
              <a:rPr lang="en-US" dirty="0" err="1"/>
              <a:t>scipy</a:t>
            </a:r>
            <a:r>
              <a:rPr lang="en-US" dirty="0"/>
              <a:t> </a:t>
            </a:r>
          </a:p>
          <a:p>
            <a:r>
              <a:rPr lang="en-US" dirty="0"/>
              <a:t>pip install </a:t>
            </a:r>
            <a:r>
              <a:rPr lang="en-US" dirty="0" err="1"/>
              <a:t>opencv</a:t>
            </a:r>
            <a:r>
              <a:rPr lang="en-US" dirty="0"/>
              <a:t>-python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8F65F-6647-CC41-B3D9-B182FDD1F6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24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FB566-B341-B939-62BE-221EE28FE4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7F386-1EC9-E1AB-D3A8-5999DFBB7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5E6D5-4131-9913-4911-BC753CD5F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84389-7941-054B-AAA5-0F242548E11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E83F1-D31E-2B1A-171B-425F984E1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B6898-9A89-6409-BE76-69C869DD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35C9-03B4-9C42-9F0B-456480385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814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6DD06-22D1-0EE9-1B40-6AAB57D8D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CD5F3-FCE8-C37A-22E4-E106BC103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F7362-F828-6065-16A8-C6C7309A8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84389-7941-054B-AAA5-0F242548E11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C84FD-CB7A-2FDF-E9C5-CFC0C1C62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7F98D-2F60-E7C5-3766-FE054E6E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35C9-03B4-9C42-9F0B-456480385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02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5F177-79AF-82A9-BE46-95EEB1C70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D8E41-84F2-03CE-A7F0-07116049A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4D5F0-08E3-49A9-3126-74AC09844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84389-7941-054B-AAA5-0F242548E11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3DED9-EAF6-0CA6-77AC-E9A4A1576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49FD4-8A58-42CB-A4A1-D0B158712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35C9-03B4-9C42-9F0B-456480385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718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9DAE4-CBE8-3CB0-BA18-41B04154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ED26A-04AE-F95D-0CE3-37A8F27EF2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4B3D8B-F0CF-933D-E30E-7117165A9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739E6-4BF1-FF35-CC48-BE771BB91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84389-7941-054B-AAA5-0F242548E11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DB841-6890-2282-61BA-DFE4CBB0D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8B18B-2B12-BA03-B708-6E7D299CB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35C9-03B4-9C42-9F0B-456480385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03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D898-0F2E-E982-A411-55045D8D4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BE688-1192-503F-52AC-667F93BD4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BA4A7-282D-B9DC-0AAD-D648F6961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0EB5B8-F827-DA86-7BBD-C2721195BA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F2C03-EA4E-7867-9AB3-B7706A8A2B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062BF7-E38D-F9AD-FE2F-CE6F17584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84389-7941-054B-AAA5-0F242548E11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2EA9A3-12F2-824F-E801-405053F6B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BB5948-0F65-DADD-9A64-D9F804C08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35C9-03B4-9C42-9F0B-456480385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749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DADB8-CF0B-7EC2-22EA-F033A918C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D5F7D3-57EB-7214-14A1-88F760D8C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84389-7941-054B-AAA5-0F242548E11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37960C-4885-45F2-4F72-15076146D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1C439-D89C-31FA-FE9E-610B240C2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35C9-03B4-9C42-9F0B-456480385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70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A7FBCC-FA5E-68ED-00CE-6BBAFBC41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84389-7941-054B-AAA5-0F242548E11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62D23B-F59D-CC58-D13F-1C72D0B9B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85131-D086-3A56-CC31-AAA13CEE7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35C9-03B4-9C42-9F0B-456480385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789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05FAB-66E1-A1AC-8820-8376240AA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AA566-36DB-F5C8-B047-FBA0A18BA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46887-C0D4-0284-29CE-B9E0850F2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D12CF-D271-F16F-FEC3-621DEB8B2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84389-7941-054B-AAA5-0F242548E11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4C741-B6BD-06C5-2CEC-E21BD556B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4BB61-5B8E-78F2-6D91-E832091B3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35C9-03B4-9C42-9F0B-456480385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B54A0-CCF2-07DF-BED4-0211F0E8F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6B5717-DBB5-7209-F511-2E9FE0A114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19A6D7-86F7-ACC9-6E70-B01AD63B5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3E0BB-6E9E-4E05-50A4-3B9E3E463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84389-7941-054B-AAA5-0F242548E11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B4E6B-BECB-D514-5D6C-D547C7EF2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953E0-7DA7-BA38-F11A-B1AC71DB0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35C9-03B4-9C42-9F0B-456480385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55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89B4-B25E-CE90-FBFF-E2B4D739E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86321-1DAC-EB0F-0DAF-850EC0D509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6ECA6-AC66-AB30-EAD0-7574E4390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84389-7941-054B-AAA5-0F242548E11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F2DEB-CC1F-4CDE-9DA3-BB13993C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C2461-51EF-F476-AD8E-A6F5C6191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35C9-03B4-9C42-9F0B-456480385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259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9640B8-B6F1-5915-F7E8-79F1169EDB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CE55FB-F649-7826-42FA-892001135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B9B26-EC2F-0E80-F5DD-8DEDB06E6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84389-7941-054B-AAA5-0F242548E11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3097E-D414-D922-CFB2-FE61BF873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22EE8-DA0B-4A13-70EF-A5A2E51D8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35C9-03B4-9C42-9F0B-456480385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93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E4F256-5AA7-D37B-7F9A-D549F8109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F52DD-904B-6EA9-7975-C795607BB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A23BB-4448-96A0-0B9C-8ECDF2448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684389-7941-054B-AAA5-0F242548E11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16865-2A87-F11D-42B2-152275947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C9E98-9777-6393-1EFE-411BD40BF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3935C9-03B4-9C42-9F0B-456480385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53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jpeg"/><Relationship Id="rId5" Type="http://schemas.openxmlformats.org/officeDocument/2006/relationships/image" Target="../media/image67.gif"/><Relationship Id="rId4" Type="http://schemas.openxmlformats.org/officeDocument/2006/relationships/image" Target="../media/image6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gif"/><Relationship Id="rId7" Type="http://schemas.openxmlformats.org/officeDocument/2006/relationships/image" Target="../media/image66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6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6A5429-266E-0237-8522-16E4358046CC}"/>
              </a:ext>
            </a:extLst>
          </p:cNvPr>
          <p:cNvSpPr txBox="1"/>
          <p:nvPr/>
        </p:nvSpPr>
        <p:spPr>
          <a:xfrm>
            <a:off x="673395" y="86061"/>
            <a:ext cx="1084521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Campus Cedars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6 Meeting (Tuesday, April 22): Semantic Segmentation of Prostate Cancer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Biopsy Tissue Using Deep Learning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 (Prostate Cancer Grade Assessment) Challenge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Omar Lab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Computational Biomedicine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Coaches: Okan Ozdemir and Rish Sharma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April 22, 2025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C64787-C75B-7F17-C4B4-EE810D723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930" y="2068083"/>
            <a:ext cx="2280501" cy="22887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9C22F8-1428-4E1C-A2BB-739F2CA20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276" y="2076346"/>
            <a:ext cx="2280501" cy="228050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06BD353-20D2-BFF4-1949-A5B0CAE1CF19}"/>
              </a:ext>
            </a:extLst>
          </p:cNvPr>
          <p:cNvCxnSpPr/>
          <p:nvPr/>
        </p:nvCxnSpPr>
        <p:spPr>
          <a:xfrm>
            <a:off x="4561242" y="3212465"/>
            <a:ext cx="33671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106C876-5994-3164-B80C-DB81434691F3}"/>
              </a:ext>
            </a:extLst>
          </p:cNvPr>
          <p:cNvSpPr txBox="1"/>
          <p:nvPr/>
        </p:nvSpPr>
        <p:spPr>
          <a:xfrm>
            <a:off x="4956452" y="3244334"/>
            <a:ext cx="2904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Semantic Segmentation</a:t>
            </a:r>
          </a:p>
        </p:txBody>
      </p:sp>
    </p:spTree>
    <p:extLst>
      <p:ext uri="{BB962C8B-B14F-4D97-AF65-F5344CB8AC3E}">
        <p14:creationId xmlns:p14="http://schemas.microsoft.com/office/powerpoint/2010/main" val="1875395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187AB-4C83-E34C-CBDF-3BC236208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885" y="386432"/>
            <a:ext cx="5947448" cy="418715"/>
          </a:xfrm>
        </p:spPr>
        <p:txBody>
          <a:bodyPr>
            <a:normAutofit fontScale="90000"/>
          </a:bodyPr>
          <a:lstStyle/>
          <a:p>
            <a:r>
              <a:rPr lang="en-US" dirty="0"/>
              <a:t>Prostate Cancer &amp; Gleason 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CFE69-3B40-DACF-2F65-82C8FBD21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72" y="1352699"/>
            <a:ext cx="11937856" cy="758495"/>
          </a:xfrm>
        </p:spPr>
        <p:txBody>
          <a:bodyPr>
            <a:normAutofit fontScale="92500"/>
          </a:bodyPr>
          <a:lstStyle/>
          <a:p>
            <a:pPr marL="0" lvl="2" indent="0">
              <a:buNone/>
            </a:pPr>
            <a:r>
              <a:rPr lang="en-US" dirty="0">
                <a:solidFill>
                  <a:schemeClr val="tx1"/>
                </a:solidFill>
              </a:rPr>
              <a:t>The Gleason grading system is used to assess </a:t>
            </a:r>
            <a:r>
              <a:rPr lang="en-US" b="1" dirty="0">
                <a:solidFill>
                  <a:srgbClr val="002060"/>
                </a:solidFill>
              </a:rPr>
              <a:t>how aggressive the cancer is</a:t>
            </a:r>
            <a:r>
              <a:rPr lang="en-US" dirty="0">
                <a:solidFill>
                  <a:schemeClr val="tx1"/>
                </a:solidFill>
              </a:rPr>
              <a:t>, based on glandular architecture seen in H&amp;E-stained biopsy tissue. This grade influence treatment decisions: surveillance vs surgery/radiation.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409D1A-5C37-2235-55AA-FB2CC756F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919A-1AF4-8143-B305-C972D12AEE0C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 descr="A diagram of a pattern&#10;&#10;AI-generated content may be incorrect.">
            <a:extLst>
              <a:ext uri="{FF2B5EF4-FFF2-40B4-BE49-F238E27FC236}">
                <a16:creationId xmlns:a16="http://schemas.microsoft.com/office/drawing/2014/main" id="{9A5C4085-24C1-D9D6-CE12-B2932929A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57" y="2111194"/>
            <a:ext cx="5298711" cy="3965629"/>
          </a:xfrm>
          <a:prstGeom prst="rect">
            <a:avLst/>
          </a:prstGeom>
        </p:spPr>
      </p:pic>
      <p:pic>
        <p:nvPicPr>
          <p:cNvPr id="10" name="Picture 9" descr="A close-up of several cells&#10;&#10;AI-generated content may be incorrect.">
            <a:extLst>
              <a:ext uri="{FF2B5EF4-FFF2-40B4-BE49-F238E27FC236}">
                <a16:creationId xmlns:a16="http://schemas.microsoft.com/office/drawing/2014/main" id="{0B9F1031-3B85-158D-489C-035825F9A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672" y="2658746"/>
            <a:ext cx="6472257" cy="238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1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8E1DA-7493-695A-1399-A6736DD85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AE782-5BF5-5600-3376-9DFC92AA7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885" y="386432"/>
            <a:ext cx="5947448" cy="418715"/>
          </a:xfrm>
        </p:spPr>
        <p:txBody>
          <a:bodyPr>
            <a:normAutofit fontScale="90000"/>
          </a:bodyPr>
          <a:lstStyle/>
          <a:p>
            <a:r>
              <a:rPr lang="en-US" dirty="0"/>
              <a:t>Why Automate Tissue Segmentation?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DFB59-4D0E-6142-F63B-E5B6162F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919A-1AF4-8143-B305-C972D12AEE0C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 descr="A close-up of several cells&#10;&#10;AI-generated content may be incorrect.">
            <a:extLst>
              <a:ext uri="{FF2B5EF4-FFF2-40B4-BE49-F238E27FC236}">
                <a16:creationId xmlns:a16="http://schemas.microsoft.com/office/drawing/2014/main" id="{9CC1F49A-3D7C-514E-9A26-773538A3D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041" y="2778304"/>
            <a:ext cx="6472257" cy="238227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46AE4-E93A-C299-A6BC-C2E3D74A2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320" y="1685209"/>
            <a:ext cx="5277721" cy="1171908"/>
          </a:xfrm>
        </p:spPr>
        <p:txBody>
          <a:bodyPr>
            <a:normAutofit fontScale="85000" lnSpcReduction="20000"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Manual Gleason grading is </a:t>
            </a:r>
            <a:r>
              <a:rPr lang="en-US" b="0" dirty="0">
                <a:solidFill>
                  <a:schemeClr val="accent1"/>
                </a:solidFill>
              </a:rPr>
              <a:t>time-consuming</a:t>
            </a:r>
            <a:r>
              <a:rPr lang="en-US" b="0" dirty="0">
                <a:solidFill>
                  <a:schemeClr val="tx1"/>
                </a:solidFill>
              </a:rPr>
              <a:t> and subject to </a:t>
            </a:r>
            <a:r>
              <a:rPr lang="en-US" b="0" dirty="0">
                <a:solidFill>
                  <a:schemeClr val="accent1"/>
                </a:solidFill>
              </a:rPr>
              <a:t>interobserver variability</a:t>
            </a:r>
            <a:r>
              <a:rPr lang="en-US" b="0" dirty="0">
                <a:solidFill>
                  <a:schemeClr val="tx1"/>
                </a:solidFill>
              </a:rPr>
              <a:t>, especially between intermediate grades.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00C317-A81F-4575-3FA4-5C3E388EEB46}"/>
              </a:ext>
            </a:extLst>
          </p:cNvPr>
          <p:cNvSpPr txBox="1"/>
          <p:nvPr/>
        </p:nvSpPr>
        <p:spPr>
          <a:xfrm>
            <a:off x="290319" y="3558132"/>
            <a:ext cx="5448541" cy="1241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67" dirty="0"/>
              <a:t>Automated segmentation into benign epithelium, stroma, and Gleason patterns will: </a:t>
            </a:r>
            <a:r>
              <a:rPr lang="en-US" sz="1867" dirty="0">
                <a:solidFill>
                  <a:srgbClr val="0070C0"/>
                </a:solidFill>
              </a:rPr>
              <a:t>a) standardize diagnosis</a:t>
            </a:r>
            <a:r>
              <a:rPr lang="en-US" sz="1867" dirty="0"/>
              <a:t>, and </a:t>
            </a:r>
            <a:r>
              <a:rPr lang="en-US" sz="1867" dirty="0">
                <a:solidFill>
                  <a:srgbClr val="0070C0"/>
                </a:solidFill>
              </a:rPr>
              <a:t>b) enable large-scale analysis across thousands of cases</a:t>
            </a:r>
          </a:p>
        </p:txBody>
      </p:sp>
    </p:spTree>
    <p:extLst>
      <p:ext uri="{BB962C8B-B14F-4D97-AF65-F5344CB8AC3E}">
        <p14:creationId xmlns:p14="http://schemas.microsoft.com/office/powerpoint/2010/main" val="2185785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FFFE96-81B2-2932-0CF6-DB25B3216B94}"/>
              </a:ext>
            </a:extLst>
          </p:cNvPr>
          <p:cNvSpPr txBox="1"/>
          <p:nvPr/>
        </p:nvSpPr>
        <p:spPr>
          <a:xfrm>
            <a:off x="290623" y="95693"/>
            <a:ext cx="10845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(Image and Mask Pairs)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B372D-590A-F881-BCAC-FB4EC14F4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23" y="598217"/>
            <a:ext cx="3096275" cy="17390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A8A289-5FD9-892B-01D4-FCF73450C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140" y="670123"/>
            <a:ext cx="1782860" cy="159519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E58352F-C205-553D-70FB-7E2B2FD167C9}"/>
              </a:ext>
            </a:extLst>
          </p:cNvPr>
          <p:cNvCxnSpPr>
            <a:stCxn id="5" idx="3"/>
          </p:cNvCxnSpPr>
          <p:nvPr/>
        </p:nvCxnSpPr>
        <p:spPr>
          <a:xfrm flipV="1">
            <a:off x="3386898" y="1467718"/>
            <a:ext cx="72252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1C972A7-6CDB-E3A4-9407-9D2C1BAE6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047" y="777921"/>
            <a:ext cx="2443377" cy="13795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744321-4243-ABA7-A565-E62D9FC58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4845" y="865569"/>
            <a:ext cx="1574851" cy="120429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90FE4F-7C2C-5F49-8F45-478AC3556ABE}"/>
              </a:ext>
            </a:extLst>
          </p:cNvPr>
          <p:cNvCxnSpPr/>
          <p:nvPr/>
        </p:nvCxnSpPr>
        <p:spPr>
          <a:xfrm flipV="1">
            <a:off x="9273124" y="1383449"/>
            <a:ext cx="72252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9881A8E-7B71-ABA5-04D4-472FCBBE9B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613" y="2631412"/>
            <a:ext cx="2637549" cy="149157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E221FBA-D7AE-F259-CBA2-45A67ED94B65}"/>
              </a:ext>
            </a:extLst>
          </p:cNvPr>
          <p:cNvCxnSpPr/>
          <p:nvPr/>
        </p:nvCxnSpPr>
        <p:spPr>
          <a:xfrm flipV="1">
            <a:off x="3152023" y="3377200"/>
            <a:ext cx="72252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2876CB6-BA92-BE37-00BF-0FCA496B17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8014" y="2764668"/>
            <a:ext cx="1667857" cy="12250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C4EA53D-AD86-A4DA-6E3F-6A1AA6E91E9F}"/>
              </a:ext>
            </a:extLst>
          </p:cNvPr>
          <p:cNvSpPr txBox="1"/>
          <p:nvPr/>
        </p:nvSpPr>
        <p:spPr>
          <a:xfrm>
            <a:off x="6029692" y="2500036"/>
            <a:ext cx="59651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0: background (non-tissue) or unknown</a:t>
            </a:r>
            <a:br>
              <a:rPr lang="en-US" dirty="0"/>
            </a:b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1: stroma (connective tissue, non-epithelium tissue)</a:t>
            </a:r>
            <a:br>
              <a:rPr lang="en-US" dirty="0"/>
            </a:b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2: healthy (benign) epithelium</a:t>
            </a:r>
            <a:br>
              <a:rPr lang="en-US" dirty="0"/>
            </a:b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3: cancerous epithelium (Gleason 3)</a:t>
            </a:r>
            <a:br>
              <a:rPr lang="en-US" dirty="0"/>
            </a:b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4: cancerous epithelium (Gleason 4)</a:t>
            </a:r>
            <a:br>
              <a:rPr lang="en-US" dirty="0"/>
            </a:b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5: cancerous epithelium (Gleason 5)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F97FE37-B2E2-D29F-C020-AD3CAD4205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623" y="4393572"/>
            <a:ext cx="7772400" cy="42454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48E7B38-7278-4E5C-F80F-0E175A1D2E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623" y="4939365"/>
            <a:ext cx="7772400" cy="4509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E15A01D-E885-09FC-867A-455B605827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623" y="5568651"/>
            <a:ext cx="9964242" cy="42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7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D2B99D-894F-FF75-EE50-594AD57ABD97}"/>
              </a:ext>
            </a:extLst>
          </p:cNvPr>
          <p:cNvSpPr txBox="1"/>
          <p:nvPr/>
        </p:nvSpPr>
        <p:spPr>
          <a:xfrm>
            <a:off x="276447" y="74428"/>
            <a:ext cx="11337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(Recap of Last Meetings) Module 1: Loading of Slide-Mask Pairs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89CD7D-BCCF-CEB1-8D56-70F4AE155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28" y="583609"/>
            <a:ext cx="6619205" cy="11911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419457-A2D5-8354-F1D1-52EB96052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592" y="1886332"/>
            <a:ext cx="2997068" cy="16650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06B6D3-1C53-3998-B919-995B065FC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703" y="1886332"/>
            <a:ext cx="3207355" cy="154266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9BC4406-7E3A-D224-5967-2A51F807B347}"/>
              </a:ext>
            </a:extLst>
          </p:cNvPr>
          <p:cNvCxnSpPr>
            <a:cxnSpLocks/>
          </p:cNvCxnSpPr>
          <p:nvPr/>
        </p:nvCxnSpPr>
        <p:spPr>
          <a:xfrm>
            <a:off x="3388660" y="2571078"/>
            <a:ext cx="95742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25669B0-2E06-5155-3C06-DBA95B927FD6}"/>
              </a:ext>
            </a:extLst>
          </p:cNvPr>
          <p:cNvSpPr txBox="1"/>
          <p:nvPr/>
        </p:nvSpPr>
        <p:spPr>
          <a:xfrm>
            <a:off x="2341067" y="3530227"/>
            <a:ext cx="3629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Coupled image and mask files dataset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86A940-A435-DD7E-8D93-F968C715D2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503" y="4143848"/>
            <a:ext cx="1533503" cy="1762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789CD7-D4F8-E5AC-CCFD-5CDA964EF1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795" y="4143848"/>
            <a:ext cx="1375699" cy="1611016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F031454-3CEC-56D4-26CA-62EF5F5B9397}"/>
              </a:ext>
            </a:extLst>
          </p:cNvPr>
          <p:cNvCxnSpPr>
            <a:cxnSpLocks/>
          </p:cNvCxnSpPr>
          <p:nvPr/>
        </p:nvCxnSpPr>
        <p:spPr>
          <a:xfrm>
            <a:off x="2551006" y="4864250"/>
            <a:ext cx="19146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23949C6-D927-DD53-045A-5797595F02AE}"/>
              </a:ext>
            </a:extLst>
          </p:cNvPr>
          <p:cNvSpPr txBox="1"/>
          <p:nvPr/>
        </p:nvSpPr>
        <p:spPr>
          <a:xfrm>
            <a:off x="2551006" y="4949356"/>
            <a:ext cx="2043789" cy="338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Matched dimensions</a:t>
            </a:r>
          </a:p>
        </p:txBody>
      </p:sp>
    </p:spTree>
    <p:extLst>
      <p:ext uri="{BB962C8B-B14F-4D97-AF65-F5344CB8AC3E}">
        <p14:creationId xmlns:p14="http://schemas.microsoft.com/office/powerpoint/2010/main" val="234574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CC5A47-C770-3116-A460-2FD8A63BEAF4}"/>
              </a:ext>
            </a:extLst>
          </p:cNvPr>
          <p:cNvSpPr txBox="1"/>
          <p:nvPr/>
        </p:nvSpPr>
        <p:spPr>
          <a:xfrm>
            <a:off x="276447" y="74428"/>
            <a:ext cx="11337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(Recap of Last Meetings) Module 2: Data Visualization and Exploratory Data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C8B5BD-8599-E717-A07C-993281ACB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47" y="601765"/>
            <a:ext cx="5051612" cy="10601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BA04C7-EED1-F930-4CF5-E46D1790A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876" y="1516042"/>
            <a:ext cx="4883395" cy="3693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4D9722-4B4E-78CB-CBDA-E7DEE622F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6401" y="430899"/>
            <a:ext cx="1841500" cy="1028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C19EB2-7D9D-BDDC-55C6-74C4901657BB}"/>
              </a:ext>
            </a:extLst>
          </p:cNvPr>
          <p:cNvSpPr txBox="1"/>
          <p:nvPr/>
        </p:nvSpPr>
        <p:spPr>
          <a:xfrm>
            <a:off x="9068960" y="1947106"/>
            <a:ext cx="28973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Summary of signal to background ratios in masks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40EA9F-5D12-C633-D9E5-787CB9F402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3169" y="2602848"/>
            <a:ext cx="5546464" cy="4558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7B14BB-53E9-2B2E-AA8B-4EAE94A596B6}"/>
              </a:ext>
            </a:extLst>
          </p:cNvPr>
          <p:cNvSpPr txBox="1"/>
          <p:nvPr/>
        </p:nvSpPr>
        <p:spPr>
          <a:xfrm>
            <a:off x="8553104" y="3090446"/>
            <a:ext cx="35280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Summary of class presence in masks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31B1FB-C1FB-8447-3902-317A91252C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166" y="3583840"/>
            <a:ext cx="2917967" cy="5567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EFAA41-1180-4B9F-148B-04D064AB7A3D}"/>
              </a:ext>
            </a:extLst>
          </p:cNvPr>
          <p:cNvSpPr txBox="1"/>
          <p:nvPr/>
        </p:nvSpPr>
        <p:spPr>
          <a:xfrm>
            <a:off x="8293501" y="4295397"/>
            <a:ext cx="3876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Summary of class distributions in masks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DBE29C-BC09-F701-0ECF-C731D29B0E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166" y="4633951"/>
            <a:ext cx="2897311" cy="20513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BC065B-E78C-3B77-48E4-8270F9627A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2435" y="4140557"/>
            <a:ext cx="4282435" cy="25735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7E1E685-2E9E-F521-0A2B-D48BA4BE3D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993" y="1700708"/>
            <a:ext cx="4141556" cy="249013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2B34DAB-17D6-DE29-D345-73D91757878F}"/>
              </a:ext>
            </a:extLst>
          </p:cNvPr>
          <p:cNvSpPr txBox="1"/>
          <p:nvPr/>
        </p:nvSpPr>
        <p:spPr>
          <a:xfrm>
            <a:off x="4476666" y="2875358"/>
            <a:ext cx="15842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Tile-wise plots by distribution of classes</a:t>
            </a:r>
          </a:p>
        </p:txBody>
      </p:sp>
    </p:spTree>
    <p:extLst>
      <p:ext uri="{BB962C8B-B14F-4D97-AF65-F5344CB8AC3E}">
        <p14:creationId xmlns:p14="http://schemas.microsoft.com/office/powerpoint/2010/main" val="4021701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7C1190-0604-CCE1-6F36-1DD23E91B1CF}"/>
              </a:ext>
            </a:extLst>
          </p:cNvPr>
          <p:cNvSpPr txBox="1"/>
          <p:nvPr/>
        </p:nvSpPr>
        <p:spPr>
          <a:xfrm>
            <a:off x="276447" y="74428"/>
            <a:ext cx="11337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(Recap of Last Meetings) Module 3: Image Pre-Preprocessing Using Normalization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D65EEB-5B3D-8883-B39B-3A8D88578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3" y="619881"/>
            <a:ext cx="4133338" cy="9445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C85D56-083D-96AA-8937-8A26E79FF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47" y="1564472"/>
            <a:ext cx="1990165" cy="6934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555606-5E73-52D7-ABCB-676984D996DD}"/>
              </a:ext>
            </a:extLst>
          </p:cNvPr>
          <p:cNvSpPr txBox="1"/>
          <p:nvPr/>
        </p:nvSpPr>
        <p:spPr>
          <a:xfrm>
            <a:off x="276447" y="2170509"/>
            <a:ext cx="22085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Min-max normalization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D408E6-0133-EB03-1D42-227CCCD5F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82" y="5209388"/>
            <a:ext cx="2649633" cy="11281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80A7D9-B5E8-1F3C-16CD-0DF8E9C89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67" y="2544546"/>
            <a:ext cx="2060928" cy="1373952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4B764F-1E16-459B-457A-E3DB6798F0BA}"/>
              </a:ext>
            </a:extLst>
          </p:cNvPr>
          <p:cNvCxnSpPr>
            <a:cxnSpLocks/>
          </p:cNvCxnSpPr>
          <p:nvPr/>
        </p:nvCxnSpPr>
        <p:spPr>
          <a:xfrm flipH="1">
            <a:off x="1440399" y="3918498"/>
            <a:ext cx="1" cy="847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8F0CF3D-3D2B-BC56-7FF0-1B531908890C}"/>
              </a:ext>
            </a:extLst>
          </p:cNvPr>
          <p:cNvSpPr txBox="1"/>
          <p:nvPr/>
        </p:nvSpPr>
        <p:spPr>
          <a:xfrm>
            <a:off x="158112" y="4941949"/>
            <a:ext cx="26496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Channel-wise normalization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F28165B-2118-EA7B-7DE6-0B490777DF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8379" y="2193339"/>
            <a:ext cx="6665919" cy="345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696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9DAF7E-6FC2-8989-821F-FD490B77495F}"/>
              </a:ext>
            </a:extLst>
          </p:cNvPr>
          <p:cNvSpPr txBox="1"/>
          <p:nvPr/>
        </p:nvSpPr>
        <p:spPr>
          <a:xfrm>
            <a:off x="276447" y="74428"/>
            <a:ext cx="11337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(Recap of Last Meetings) Module 5: Image (Tile) Data Augmentation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AB10AB-708E-5624-528F-3899A6EF5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34" y="443760"/>
            <a:ext cx="4087906" cy="10202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209650-9E87-4172-5DEE-AC69E9D6C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73" y="3429000"/>
            <a:ext cx="2608879" cy="5667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8ECD3-6847-6B27-7D82-2995F0705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47" y="1608805"/>
            <a:ext cx="3454801" cy="18201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34A9F7-DB66-2047-3701-2CDFA66A9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512" y="3429000"/>
            <a:ext cx="2901453" cy="5667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D388D7-FD82-03A3-3B76-2C6DB861EE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4837" y="1586492"/>
            <a:ext cx="3454801" cy="17729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822F05-9169-AC41-8178-4C97B9ECA8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0130" y="3321765"/>
            <a:ext cx="2756495" cy="5667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16ED49-D543-78E8-B860-4E48DE8556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3227" y="1464025"/>
            <a:ext cx="3634442" cy="1883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E94273-ADDE-4E2B-6A80-36E2711F80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447" y="5935908"/>
            <a:ext cx="3981414" cy="4783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D2DBD4-E0BE-9CCF-BD35-75D0BD34A1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638" y="4265753"/>
            <a:ext cx="3132148" cy="16133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78BC9C-6C51-87A5-6708-5FD0D1A2085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6714" y="5879093"/>
            <a:ext cx="2611045" cy="5127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9E13C02-FE7C-1900-C490-080FA981EFB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58792" y="4094450"/>
            <a:ext cx="3540846" cy="17846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088690B-4553-9B36-8D47-D0DA4C0D3EC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37297" y="5879093"/>
            <a:ext cx="3031286" cy="5667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B01519-7C04-8B7D-0E36-86CA9F0C88E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34141" y="3995924"/>
            <a:ext cx="3649098" cy="188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694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9A7A39-4795-6C66-967D-38939154B641}"/>
              </a:ext>
            </a:extLst>
          </p:cNvPr>
          <p:cNvSpPr txBox="1"/>
          <p:nvPr/>
        </p:nvSpPr>
        <p:spPr>
          <a:xfrm>
            <a:off x="276447" y="74428"/>
            <a:ext cx="11337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(Recap of Last Meetings) Module 4: PyTorch Dataset Class and Data Loaders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64E817-C2DC-4B24-20F9-A6E343A32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38" y="533006"/>
            <a:ext cx="5195944" cy="11967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E50EA7-054E-D186-1919-F726A598F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90" y="1873165"/>
            <a:ext cx="3528234" cy="2193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E2238C-A266-EDBE-DDF3-7FB8B7E91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47" y="4740408"/>
            <a:ext cx="4152422" cy="11967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809944-2D05-34DC-021F-0A845298E7A4}"/>
              </a:ext>
            </a:extLst>
          </p:cNvPr>
          <p:cNvSpPr txBox="1"/>
          <p:nvPr/>
        </p:nvSpPr>
        <p:spPr>
          <a:xfrm>
            <a:off x="924853" y="5942252"/>
            <a:ext cx="2649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Tile-wise processing of PANDA dataset images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F9BC1D-ACCF-5FAE-A3AA-CF80A2FEFE8C}"/>
              </a:ext>
            </a:extLst>
          </p:cNvPr>
          <p:cNvSpPr txBox="1"/>
          <p:nvPr/>
        </p:nvSpPr>
        <p:spPr>
          <a:xfrm>
            <a:off x="1027844" y="4111012"/>
            <a:ext cx="26496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Custom dataset class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06F3A1-14E2-8088-054C-72621EA23F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3876" y="641424"/>
            <a:ext cx="3753898" cy="10883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C509A8-CA60-1D43-448C-28E3A07C753C}"/>
              </a:ext>
            </a:extLst>
          </p:cNvPr>
          <p:cNvSpPr txBox="1"/>
          <p:nvPr/>
        </p:nvSpPr>
        <p:spPr>
          <a:xfrm>
            <a:off x="5368006" y="1665222"/>
            <a:ext cx="4216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Dataset class iterates over image tiles, tuple contains image file and tile coordinates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DDBB4F-06B6-3250-5314-D437F11BCE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9084" y="728403"/>
            <a:ext cx="2100326" cy="24642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2A23B8-5414-0C6F-33F0-57F2708F5D12}"/>
              </a:ext>
            </a:extLst>
          </p:cNvPr>
          <p:cNvSpPr txBox="1"/>
          <p:nvPr/>
        </p:nvSpPr>
        <p:spPr>
          <a:xfrm>
            <a:off x="10282369" y="3192685"/>
            <a:ext cx="1280748" cy="342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Example tile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174DC42-A8EE-6117-7123-1E0A9158F8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9582" y="5432898"/>
            <a:ext cx="3177027" cy="4697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1EE2D4A-10C6-01F3-054F-89C2329726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3109" y="2413716"/>
            <a:ext cx="3906496" cy="285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73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35533A-876A-46CA-DADC-578A5DD6B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6" y="640996"/>
            <a:ext cx="5471160" cy="9869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F62BD7-5EE7-830F-EDA9-A2CB5E29AE1D}"/>
              </a:ext>
            </a:extLst>
          </p:cNvPr>
          <p:cNvSpPr txBox="1"/>
          <p:nvPr/>
        </p:nvSpPr>
        <p:spPr>
          <a:xfrm>
            <a:off x="276447" y="74428"/>
            <a:ext cx="11337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(Recap of Last Meetings) Module 6: Loss Function and Metrics for Semantic Segmentation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41D1C-886E-A3B3-2B54-B0774F606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29" y="6290848"/>
            <a:ext cx="3422746" cy="374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E0E64C-9386-67A7-A043-BEE150948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980" y="5469968"/>
            <a:ext cx="3238225" cy="7111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AB573C-3883-7A5F-364A-C9B82B9713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029" y="1862874"/>
            <a:ext cx="3098800" cy="723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F95539-D8AD-3886-682E-BF9DF18EEF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960" y="2542102"/>
            <a:ext cx="1524000" cy="381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77CC17-0BB9-457A-F6EE-95EA7C0324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816" y="3027988"/>
            <a:ext cx="3276600" cy="711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E23A07-8DD6-747F-F711-9088E21B99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960" y="3719328"/>
            <a:ext cx="1549400" cy="330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661860-3D6C-8D0A-1665-7A293927CA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899" y="4180402"/>
            <a:ext cx="3182671" cy="6700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F8598F-3B4D-A58B-8484-A821C0920B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" y="4888834"/>
            <a:ext cx="1511300" cy="330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2C2033-E2F0-89FE-D835-52A325A445D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5631" y="5162739"/>
            <a:ext cx="2073233" cy="8369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B973287-6351-2FBC-787C-B7030C689C8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8026" y="1134460"/>
            <a:ext cx="1803400" cy="660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4A094C-DFB7-7D11-2250-681D30B680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0898" y="1116464"/>
            <a:ext cx="1803400" cy="660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BB8A478-D5DE-3A59-B676-4274E7139716}"/>
              </a:ext>
            </a:extLst>
          </p:cNvPr>
          <p:cNvSpPr txBox="1"/>
          <p:nvPr/>
        </p:nvSpPr>
        <p:spPr>
          <a:xfrm>
            <a:off x="6514374" y="1734875"/>
            <a:ext cx="1970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Ground truth mask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80D298-7A13-B99F-BD8D-505CB62626A4}"/>
              </a:ext>
            </a:extLst>
          </p:cNvPr>
          <p:cNvSpPr txBox="1"/>
          <p:nvPr/>
        </p:nvSpPr>
        <p:spPr>
          <a:xfrm>
            <a:off x="9959373" y="1694344"/>
            <a:ext cx="1654925" cy="337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Predicted mask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84DF48F-6C32-CBE9-C417-4C5CA5FDC3F3}"/>
              </a:ext>
            </a:extLst>
          </p:cNvPr>
          <p:cNvCxnSpPr/>
          <p:nvPr/>
        </p:nvCxnSpPr>
        <p:spPr>
          <a:xfrm>
            <a:off x="8573845" y="1430767"/>
            <a:ext cx="105424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E8B744D-ED0D-47AB-7A12-9D29993F156B}"/>
              </a:ext>
            </a:extLst>
          </p:cNvPr>
          <p:cNvSpPr txBox="1"/>
          <p:nvPr/>
        </p:nvSpPr>
        <p:spPr>
          <a:xfrm>
            <a:off x="8633553" y="1496879"/>
            <a:ext cx="1567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IOU=1.0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352E484-830B-058A-3708-8BFA7EC006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8026" y="2542102"/>
            <a:ext cx="1803400" cy="660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16D81A0-FC05-1BF4-522A-188E213A60F8}"/>
              </a:ext>
            </a:extLst>
          </p:cNvPr>
          <p:cNvSpPr txBox="1"/>
          <p:nvPr/>
        </p:nvSpPr>
        <p:spPr>
          <a:xfrm>
            <a:off x="6514374" y="3142517"/>
            <a:ext cx="1970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Ground truth mask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79C2057-BEB2-BD50-85B0-498B2A0F294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28094" y="2556651"/>
            <a:ext cx="2055295" cy="56149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AF9B226-36BC-88ED-2252-3513AC66BE0F}"/>
              </a:ext>
            </a:extLst>
          </p:cNvPr>
          <p:cNvSpPr txBox="1"/>
          <p:nvPr/>
        </p:nvSpPr>
        <p:spPr>
          <a:xfrm>
            <a:off x="9885135" y="3091940"/>
            <a:ext cx="1654925" cy="337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Predicted mask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0B03449-2ABE-EE1A-0081-7A525D4C69EA}"/>
              </a:ext>
            </a:extLst>
          </p:cNvPr>
          <p:cNvCxnSpPr/>
          <p:nvPr/>
        </p:nvCxnSpPr>
        <p:spPr>
          <a:xfrm>
            <a:off x="8506537" y="2777210"/>
            <a:ext cx="105424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31FB53A-FBDC-F07F-0093-7585B8A9E29B}"/>
              </a:ext>
            </a:extLst>
          </p:cNvPr>
          <p:cNvSpPr txBox="1"/>
          <p:nvPr/>
        </p:nvSpPr>
        <p:spPr>
          <a:xfrm>
            <a:off x="8468734" y="2822635"/>
            <a:ext cx="1567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IOU=0.33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0071721-D5C9-30C1-5742-9FB008794CD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1682" y="3787308"/>
            <a:ext cx="1803400" cy="660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9796493-EEA5-B4B2-C0CC-D60E04D5AA2C}"/>
              </a:ext>
            </a:extLst>
          </p:cNvPr>
          <p:cNvSpPr txBox="1"/>
          <p:nvPr/>
        </p:nvSpPr>
        <p:spPr>
          <a:xfrm>
            <a:off x="6498030" y="4387723"/>
            <a:ext cx="1970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Ground truth mask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8EE7146-2FF2-33E0-A7E8-C25B6614A91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60785" y="3829620"/>
            <a:ext cx="2292949" cy="634971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267D1E2-1CD4-B625-D463-18288BA22550}"/>
              </a:ext>
            </a:extLst>
          </p:cNvPr>
          <p:cNvCxnSpPr/>
          <p:nvPr/>
        </p:nvCxnSpPr>
        <p:spPr>
          <a:xfrm>
            <a:off x="8506537" y="4014995"/>
            <a:ext cx="105424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69E1CBC-12AE-FE23-E05E-B1F022EB9D75}"/>
              </a:ext>
            </a:extLst>
          </p:cNvPr>
          <p:cNvSpPr txBox="1"/>
          <p:nvPr/>
        </p:nvSpPr>
        <p:spPr>
          <a:xfrm>
            <a:off x="8468734" y="4060420"/>
            <a:ext cx="1567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IOU=0.00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6B9C00-9206-E83B-493F-E0D50550D4C5}"/>
              </a:ext>
            </a:extLst>
          </p:cNvPr>
          <p:cNvSpPr txBox="1"/>
          <p:nvPr/>
        </p:nvSpPr>
        <p:spPr>
          <a:xfrm>
            <a:off x="7143856" y="6036902"/>
            <a:ext cx="4216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Intersection over Union between ground truth and predicted mask pairs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FA7997-44CA-5359-2891-D1622A2732E9}"/>
              </a:ext>
            </a:extLst>
          </p:cNvPr>
          <p:cNvSpPr txBox="1"/>
          <p:nvPr/>
        </p:nvSpPr>
        <p:spPr>
          <a:xfrm>
            <a:off x="9959372" y="4407889"/>
            <a:ext cx="1654925" cy="337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Predicted mask</a:t>
            </a:r>
          </a:p>
        </p:txBody>
      </p:sp>
    </p:spTree>
    <p:extLst>
      <p:ext uri="{BB962C8B-B14F-4D97-AF65-F5344CB8AC3E}">
        <p14:creationId xmlns:p14="http://schemas.microsoft.com/office/powerpoint/2010/main" val="1581330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931B5A-F6BF-BE6C-D3EA-DFB1562E9494}"/>
              </a:ext>
            </a:extLst>
          </p:cNvPr>
          <p:cNvSpPr txBox="1"/>
          <p:nvPr/>
        </p:nvSpPr>
        <p:spPr>
          <a:xfrm>
            <a:off x="276447" y="74428"/>
            <a:ext cx="11337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(Agenda for Today’s Meeting) Module 7: 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Image Segmentation Using K-means clustering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2617D-481E-7542-CD49-7A37DF217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372" y="2216067"/>
            <a:ext cx="5110756" cy="21573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CCC93F-5849-1A6F-1ECA-13837A3AC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372" y="4509147"/>
            <a:ext cx="5232298" cy="2227020"/>
          </a:xfrm>
          <a:prstGeom prst="rect">
            <a:avLst/>
          </a:prstGeom>
        </p:spPr>
      </p:pic>
      <p:pic>
        <p:nvPicPr>
          <p:cNvPr id="7" name="Picture 2" descr="Clustering with Scikit with GIFs - dashee87.github.io">
            <a:extLst>
              <a:ext uri="{FF2B5EF4-FFF2-40B4-BE49-F238E27FC236}">
                <a16:creationId xmlns:a16="http://schemas.microsoft.com/office/drawing/2014/main" id="{050B68AA-CCE7-FDA9-AE70-55D4ADB27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" y="3752798"/>
            <a:ext cx="4415337" cy="2483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5F10D5-35AB-67C3-16AE-3771C6383664}"/>
              </a:ext>
            </a:extLst>
          </p:cNvPr>
          <p:cNvSpPr txBox="1"/>
          <p:nvPr/>
        </p:nvSpPr>
        <p:spPr>
          <a:xfrm>
            <a:off x="1639907" y="612748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2-dimensional</a:t>
            </a:r>
          </a:p>
        </p:txBody>
      </p:sp>
      <p:pic>
        <p:nvPicPr>
          <p:cNvPr id="2050" name="Picture 2" descr="RGB image divided into three color channels. | Download Scientific Diagram">
            <a:extLst>
              <a:ext uri="{FF2B5EF4-FFF2-40B4-BE49-F238E27FC236}">
                <a16:creationId xmlns:a16="http://schemas.microsoft.com/office/drawing/2014/main" id="{D21A721F-B003-6B2C-ACB9-095D1E3BB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8388"/>
            <a:ext cx="2554307" cy="1237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3A43148-BBB0-4FDC-3B84-1C3F0B80E3B2}"/>
              </a:ext>
            </a:extLst>
          </p:cNvPr>
          <p:cNvSpPr txBox="1"/>
          <p:nvPr/>
        </p:nvSpPr>
        <p:spPr>
          <a:xfrm>
            <a:off x="1188086" y="1614813"/>
            <a:ext cx="2732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Pixel </a:t>
            </a:r>
            <a:r>
              <a:rPr lang="en-US" sz="1400" dirty="0">
                <a:sym typeface="Wingdings" pitchFamily="2" charset="2"/>
              </a:rPr>
              <a:t> 3D [R,G,B] vector</a:t>
            </a:r>
            <a:endParaRPr lang="en-US" sz="1400" dirty="0"/>
          </a:p>
        </p:txBody>
      </p:sp>
      <p:pic>
        <p:nvPicPr>
          <p:cNvPr id="3" name="Picture 2" descr="A diagram of a data and a diagram of a diagram&#10;&#10;AI-generated content may be incorrect.">
            <a:extLst>
              <a:ext uri="{FF2B5EF4-FFF2-40B4-BE49-F238E27FC236}">
                <a16:creationId xmlns:a16="http://schemas.microsoft.com/office/drawing/2014/main" id="{DC92A926-B3C2-0E46-7A5A-2E061236B3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965" y="2113047"/>
            <a:ext cx="3271070" cy="12725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2F7657C-1C01-231D-CD52-60E47B560348}"/>
              </a:ext>
            </a:extLst>
          </p:cNvPr>
          <p:cNvSpPr txBox="1"/>
          <p:nvPr/>
        </p:nvSpPr>
        <p:spPr>
          <a:xfrm>
            <a:off x="4015945" y="880020"/>
            <a:ext cx="41601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K means algorithm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Unsupervised algorithm for grouping similar data points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Partitions data into </a:t>
            </a:r>
            <a:r>
              <a:rPr lang="en-US" sz="1200" b="1" dirty="0"/>
              <a:t>K distinct clusters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Each cluster represented by its </a:t>
            </a:r>
            <a:r>
              <a:rPr lang="en-US" sz="1200" b="1" dirty="0"/>
              <a:t>centroid (mean)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Assigns points based on </a:t>
            </a:r>
            <a:r>
              <a:rPr lang="en-US" sz="1200" b="1" dirty="0"/>
              <a:t>distance to nearest centroid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Iteratively refines clusters until convergence</a:t>
            </a:r>
          </a:p>
        </p:txBody>
      </p:sp>
    </p:spTree>
    <p:extLst>
      <p:ext uri="{BB962C8B-B14F-4D97-AF65-F5344CB8AC3E}">
        <p14:creationId xmlns:p14="http://schemas.microsoft.com/office/powerpoint/2010/main" val="2823909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561391-17D5-27BD-99D4-2F6DAC65162B}"/>
              </a:ext>
            </a:extLst>
          </p:cNvPr>
          <p:cNvSpPr txBox="1"/>
          <p:nvPr/>
        </p:nvSpPr>
        <p:spPr>
          <a:xfrm>
            <a:off x="276447" y="74428"/>
            <a:ext cx="11337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(Agenda for Today’s Meeting) Module 8: 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Image Segmentation Using DBSCAN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3F538-9D21-3C4E-CB6D-1D128771A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649" y="3309571"/>
            <a:ext cx="3448759" cy="1538067"/>
          </a:xfrm>
          <a:prstGeom prst="rect">
            <a:avLst/>
          </a:prstGeom>
        </p:spPr>
      </p:pic>
      <p:pic>
        <p:nvPicPr>
          <p:cNvPr id="1028" name="Picture 4" descr="Density-Based Spatial Clustering of Applications with Noise (DBSCAN) -  PRIMO.ai">
            <a:extLst>
              <a:ext uri="{FF2B5EF4-FFF2-40B4-BE49-F238E27FC236}">
                <a16:creationId xmlns:a16="http://schemas.microsoft.com/office/drawing/2014/main" id="{AA7AAB33-F584-5705-2971-5DEC890A7A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37"/>
          <a:stretch>
            <a:fillRect/>
          </a:stretch>
        </p:blipFill>
        <p:spPr bwMode="auto">
          <a:xfrm>
            <a:off x="4062846" y="547868"/>
            <a:ext cx="4208318" cy="2245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GB image divided into three color channels. | Download Scientific Diagram">
            <a:extLst>
              <a:ext uri="{FF2B5EF4-FFF2-40B4-BE49-F238E27FC236}">
                <a16:creationId xmlns:a16="http://schemas.microsoft.com/office/drawing/2014/main" id="{881766D8-79AC-0402-69DD-A41FDC1D5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6303" y="864839"/>
            <a:ext cx="2364478" cy="1145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07B0B4-FA09-2995-7DA2-811863CA8C97}"/>
              </a:ext>
            </a:extLst>
          </p:cNvPr>
          <p:cNvSpPr txBox="1"/>
          <p:nvPr/>
        </p:nvSpPr>
        <p:spPr>
          <a:xfrm>
            <a:off x="8728365" y="1975471"/>
            <a:ext cx="2732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Pixel </a:t>
            </a:r>
            <a:r>
              <a:rPr lang="en-US" sz="1400" dirty="0">
                <a:sym typeface="Wingdings" pitchFamily="2" charset="2"/>
              </a:rPr>
              <a:t> 3D [R,G,B] vector</a:t>
            </a:r>
            <a:endParaRPr lang="en-US" sz="1400" dirty="0"/>
          </a:p>
        </p:txBody>
      </p:sp>
      <p:pic>
        <p:nvPicPr>
          <p:cNvPr id="3" name="Picture 2" descr="A diagram of a diagram of a circle&#10;&#10;AI-generated content may be incorrect.">
            <a:extLst>
              <a:ext uri="{FF2B5EF4-FFF2-40B4-BE49-F238E27FC236}">
                <a16:creationId xmlns:a16="http://schemas.microsoft.com/office/drawing/2014/main" id="{21E29956-3182-1AFF-1D53-83DFC5024F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981" y="512717"/>
            <a:ext cx="3436664" cy="1731155"/>
          </a:xfrm>
          <a:prstGeom prst="rect">
            <a:avLst/>
          </a:prstGeom>
        </p:spPr>
      </p:pic>
      <p:pic>
        <p:nvPicPr>
          <p:cNvPr id="10" name="Picture 9" descr="A group of colorful circles&#10;&#10;AI-generated content may be incorrect.">
            <a:extLst>
              <a:ext uri="{FF2B5EF4-FFF2-40B4-BE49-F238E27FC236}">
                <a16:creationId xmlns:a16="http://schemas.microsoft.com/office/drawing/2014/main" id="{9ADD3270-3EC9-5C92-32EF-00E8AA2BF3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40" y="4231061"/>
            <a:ext cx="3550146" cy="19379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5C8C6D-0070-0CBE-AC8F-83FCB2DFC4B0}"/>
              </a:ext>
            </a:extLst>
          </p:cNvPr>
          <p:cNvSpPr txBox="1"/>
          <p:nvPr/>
        </p:nvSpPr>
        <p:spPr>
          <a:xfrm>
            <a:off x="0" y="2360676"/>
            <a:ext cx="40628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Parameters in DBSCAN: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Eps - radius of the neighborhood around a data point.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 err="1"/>
              <a:t>MinPts</a:t>
            </a:r>
            <a:r>
              <a:rPr lang="en-US" sz="1000" dirty="0"/>
              <a:t> - minimum number of points required within the </a:t>
            </a:r>
            <a:r>
              <a:rPr lang="en-US" sz="1000" b="1" dirty="0"/>
              <a:t>eps</a:t>
            </a:r>
            <a:r>
              <a:rPr lang="en-US" sz="1000" dirty="0"/>
              <a:t> radius to form a dense region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A9D493-B3F1-66AE-7B88-506DB667AC67}"/>
              </a:ext>
            </a:extLst>
          </p:cNvPr>
          <p:cNvSpPr txBox="1"/>
          <p:nvPr/>
        </p:nvSpPr>
        <p:spPr>
          <a:xfrm>
            <a:off x="0" y="3158499"/>
            <a:ext cx="4062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 fontAlgn="base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rgbClr val="273239"/>
                </a:solidFill>
                <a:effectLst/>
              </a:rPr>
              <a:t>Core points  have a sufficient number of neighbors within eps radius</a:t>
            </a:r>
          </a:p>
          <a:p>
            <a:pPr marL="171450" indent="-171450" algn="l" fontAlgn="base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rgbClr val="273239"/>
                </a:solidFill>
                <a:effectLst/>
              </a:rPr>
              <a:t>Border points are near core points but lack enough neighbors to be core points</a:t>
            </a:r>
          </a:p>
          <a:p>
            <a:pPr marL="171450" indent="-171450" algn="l" fontAlgn="base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rgbClr val="273239"/>
                </a:solidFill>
                <a:effectLst/>
              </a:rPr>
              <a:t>Noise points which do not belong to any cluster.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31504F-FB28-AF9C-70A3-CCADB0BD0E50}"/>
              </a:ext>
            </a:extLst>
          </p:cNvPr>
          <p:cNvSpPr txBox="1"/>
          <p:nvPr/>
        </p:nvSpPr>
        <p:spPr>
          <a:xfrm>
            <a:off x="3740290" y="4230043"/>
            <a:ext cx="45308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K means 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i="1" dirty="0"/>
              <a:t>Objective –  Partition all points into k groups that minimize distance to cluster centers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Forces every pixel into one of k clusters</a:t>
            </a:r>
            <a:endParaRPr lang="en-US" sz="1000" i="1" dirty="0"/>
          </a:p>
          <a:p>
            <a:r>
              <a:rPr lang="en-US" sz="1000" b="1" dirty="0"/>
              <a:t>DB Scan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i="1" dirty="0"/>
              <a:t>Objective - Are there dense regions in this space separated by low-density gaps?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Tissue images often have smooth color variation - No clear “gaps” between colors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So DBSCAN could give one big connected region → merges everything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DBSCAN cannot “cut” this into clusters because: There’s no low-density boundary to separate them</a:t>
            </a:r>
            <a:endParaRPr lang="en-US" sz="1000" i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6A31A7-68F8-020B-614B-2B7F6AAEFDE3}"/>
              </a:ext>
            </a:extLst>
          </p:cNvPr>
          <p:cNvSpPr txBox="1"/>
          <p:nvPr/>
        </p:nvSpPr>
        <p:spPr>
          <a:xfrm>
            <a:off x="8370013" y="6473602"/>
            <a:ext cx="3351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K-means imposes structure. DBSCAN requires structure.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190BFB6-B6D3-8701-CBDC-3717D50C25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9068" y="5014873"/>
            <a:ext cx="3427228" cy="145872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3C62CCD-F4A3-C638-76D9-75DC85958DCE}"/>
              </a:ext>
            </a:extLst>
          </p:cNvPr>
          <p:cNvSpPr txBox="1"/>
          <p:nvPr/>
        </p:nvSpPr>
        <p:spPr>
          <a:xfrm>
            <a:off x="10550141" y="4830207"/>
            <a:ext cx="1304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K means </a:t>
            </a:r>
            <a:endParaRPr lang="en-US" sz="1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8A3321-8200-7341-5BAD-78E84360C4D1}"/>
              </a:ext>
            </a:extLst>
          </p:cNvPr>
          <p:cNvSpPr txBox="1"/>
          <p:nvPr/>
        </p:nvSpPr>
        <p:spPr>
          <a:xfrm>
            <a:off x="10417647" y="3024548"/>
            <a:ext cx="1304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DBSCAN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78422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656</Words>
  <Application>Microsoft Macintosh PowerPoint</Application>
  <PresentationFormat>Widescreen</PresentationFormat>
  <Paragraphs>96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Inter</vt:lpstr>
      <vt:lpstr>Times New Roman</vt:lpstr>
      <vt:lpstr>Wingdings</vt:lpstr>
      <vt:lpstr>Office Theme</vt:lpstr>
      <vt:lpstr>PowerPoint Presentation</vt:lpstr>
      <vt:lpstr>Prostate Cancer &amp; Gleason Grading</vt:lpstr>
      <vt:lpstr>Why Automate Tissue Segmentation?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Sharma, Rish</dc:creator>
  <cp:lastModifiedBy>Vasanthakumari, Priyanka</cp:lastModifiedBy>
  <cp:revision>55</cp:revision>
  <dcterms:created xsi:type="dcterms:W3CDTF">2025-05-06T19:50:03Z</dcterms:created>
  <dcterms:modified xsi:type="dcterms:W3CDTF">2026-04-27T17:17:02Z</dcterms:modified>
</cp:coreProperties>
</file>