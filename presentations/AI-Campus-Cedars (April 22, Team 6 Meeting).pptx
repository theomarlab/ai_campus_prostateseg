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485" r:id="rId3"/>
    <p:sldId id="486" r:id="rId4"/>
    <p:sldId id="269" r:id="rId5"/>
    <p:sldId id="487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8"/>
    <p:restoredTop sz="94678"/>
  </p:normalViewPr>
  <p:slideViewPr>
    <p:cSldViewPr snapToGrid="0">
      <p:cViewPr>
        <p:scale>
          <a:sx n="122" d="100"/>
          <a:sy n="122" d="100"/>
        </p:scale>
        <p:origin x="1560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4685C-FC30-464A-9B2A-BAE60BDDD27E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069CC-92A6-2E46-ABC6-19FD89593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66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F746A-9A42-BC49-B5AB-F8339C12B1B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73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507A2-D477-7E7E-A216-7FC79C8B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DC4A53-789F-BA05-4F83-EDA9C2896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D53AA-9167-7193-AC9B-41DFD4A84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7A526-8D92-E3BA-F680-F98EBD7B9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F746A-9A42-BC49-B5AB-F8339C12B1B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560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D3B93-3B3A-DD49-78C0-16DF35A27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92B15-8928-30F7-95D3-9B195F428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1C874-4962-C96C-DFB4-8BD2327AA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818-0B2A-1444-8A51-8304A939448D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CA1D7-62B4-FE86-CA9D-8F2688BC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2C0EF-F4A4-4415-3408-125737D37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021B-E2D2-284B-BFF1-B74640280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623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126E6-6818-2F69-B68B-10430BAA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F6A35-3BB7-3721-4376-EAFA1FBB3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9510C-4936-0DC5-5F84-81A39D16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818-0B2A-1444-8A51-8304A939448D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4089F-2159-F82A-4B5D-740D45682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D133A-DE29-0BE2-B6AC-83C48608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021B-E2D2-284B-BFF1-B74640280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23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7502-DD15-930B-E9CC-7EF5E4FED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5209-B6A6-29E1-F497-A2B279123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E90B2-8977-CC74-3F33-E88EB8CF8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818-0B2A-1444-8A51-8304A939448D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8BEB-1252-92B4-3EA6-2BDA35DF9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00CF9-79A1-9A19-2C08-2E30F06B8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021B-E2D2-284B-BFF1-B74640280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1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53055-32A8-4A05-4092-CEDE3D01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A77BF-8CFF-7361-0711-8153279664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0932C-AC8E-AE2D-9FF6-19F7CF7B2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49E76-D0C3-F932-65ED-113AE2732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818-0B2A-1444-8A51-8304A939448D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E956F-88E8-9AE0-8872-C89172452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7EEDE-D235-B6B7-CC01-47EFC2B3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021B-E2D2-284B-BFF1-B74640280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2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E210D-0FC3-7B55-075C-5E039FEE0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3743F-B2A7-93E0-E05B-55CADAFC2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A982AD-E3BE-2A9F-2FC2-F604DD797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F8ADD6-3E5B-CD58-B049-DE45CE143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EE1F90-C0B8-DC96-FAA4-5C78CCA19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46F924-E26B-F806-8D42-3E53C470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818-0B2A-1444-8A51-8304A939448D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3C223B-B98D-EE1C-E095-43C250ABB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6EA5B-83B3-CABA-225F-C7527085E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021B-E2D2-284B-BFF1-B74640280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11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0F16-B1C3-BD23-494A-E3EAD3E10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4BC04E-EF49-BB46-22BA-B3686C936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818-0B2A-1444-8A51-8304A939448D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C3F1E-FE8D-F8BF-4AC3-A71786853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401ED-89B3-BB24-EE7D-C40CE8C65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021B-E2D2-284B-BFF1-B74640280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87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B9B2B-F585-9AA1-1A66-115DA8BB6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818-0B2A-1444-8A51-8304A939448D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5FA52-6D00-775F-9A51-7ABE55696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18A56-3A40-1A78-FB43-FF59B2FDD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021B-E2D2-284B-BFF1-B74640280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47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019C7-8201-D04C-24F7-568353D7F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289F5-0A6D-D124-5097-A6EDEF14F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4264D-B078-1AEE-A8C1-96A915E4E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6DCC8-8DC0-9CAD-9E25-3E8400A79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818-0B2A-1444-8A51-8304A939448D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9AFA4-321B-217B-961C-1EB29A7CD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A7ADB-29DA-AD7D-5B72-4D8372B8E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021B-E2D2-284B-BFF1-B74640280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868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08D05-0632-01ED-6CAA-0843C36C0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9F996D-4FBA-DC7F-18AD-2EFE3CA5A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83E7C-3689-0F1E-BA48-69099DDEF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D2314-856E-4510-2393-46E8520A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818-0B2A-1444-8A51-8304A939448D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0E3D1-0E04-4F58-0CC6-3ECB1FB83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7F8E8-4D44-0BA7-5FEE-F5BFEB393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021B-E2D2-284B-BFF1-B74640280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43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6837-2BCE-D35E-1E34-43B20CED1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5D549-B221-E7C4-9CC0-215418B6F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B454E-5290-3FE5-DD39-C387F8FC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818-0B2A-1444-8A51-8304A939448D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82CCF-7256-A09A-B6CB-F9A2C094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F656A-125E-B0A6-4452-626308AF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021B-E2D2-284B-BFF1-B74640280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7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06F939-026B-C414-0CA9-7E81C2485A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86C3E-7451-DA6B-479D-CFA72A0A5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51C62-7E84-7946-50B2-CE90754DF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99818-0B2A-1444-8A51-8304A939448D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E220E-F1A5-45C7-29C0-D99461B99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120D9-535A-3536-A836-E10F234C9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4021B-E2D2-284B-BFF1-B74640280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98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1477F5-ED06-4BD9-02AF-B0B609E89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B003F-CE3B-238E-D952-3488F51D8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2630D-1C38-3B02-2F26-BDCC5EB66C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F99818-0B2A-1444-8A51-8304A939448D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F1799-1D03-A473-A70E-27FD6C63F8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EA6A7-DF07-E926-7D70-EC1D82D08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4021B-E2D2-284B-BFF1-B74640280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33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6A5429-266E-0237-8522-16E4358046CC}"/>
              </a:ext>
            </a:extLst>
          </p:cNvPr>
          <p:cNvSpPr txBox="1"/>
          <p:nvPr/>
        </p:nvSpPr>
        <p:spPr>
          <a:xfrm>
            <a:off x="673395" y="86061"/>
            <a:ext cx="1084521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Campus Cedars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6 Meeting (Tuesday, April 22): Semantic Segmentation of Prostate Cancer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Biopsy Tissue Using Deep Learning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 (Prostate Cancer Grade Assessment) Challenge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Omar Lab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Computational Biomedicine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Coaches: Okan Ozdemir and Rish Sharma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April 22,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C64787-C75B-7F17-C4B4-EE810D723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30" y="2068083"/>
            <a:ext cx="2280501" cy="22887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9C22F8-1428-4E1C-A2BB-739F2CA20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276" y="2076346"/>
            <a:ext cx="2280501" cy="228050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06BD353-20D2-BFF4-1949-A5B0CAE1CF19}"/>
              </a:ext>
            </a:extLst>
          </p:cNvPr>
          <p:cNvCxnSpPr/>
          <p:nvPr/>
        </p:nvCxnSpPr>
        <p:spPr>
          <a:xfrm>
            <a:off x="4561242" y="3212465"/>
            <a:ext cx="33671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106C876-5994-3164-B80C-DB81434691F3}"/>
              </a:ext>
            </a:extLst>
          </p:cNvPr>
          <p:cNvSpPr txBox="1"/>
          <p:nvPr/>
        </p:nvSpPr>
        <p:spPr>
          <a:xfrm>
            <a:off x="4956452" y="3244334"/>
            <a:ext cx="290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Semantic Segmentation</a:t>
            </a:r>
          </a:p>
        </p:txBody>
      </p:sp>
    </p:spTree>
    <p:extLst>
      <p:ext uri="{BB962C8B-B14F-4D97-AF65-F5344CB8AC3E}">
        <p14:creationId xmlns:p14="http://schemas.microsoft.com/office/powerpoint/2010/main" val="1875395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87AB-4C83-E34C-CBDF-3BC23620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885" y="386432"/>
            <a:ext cx="5947448" cy="418715"/>
          </a:xfrm>
        </p:spPr>
        <p:txBody>
          <a:bodyPr>
            <a:normAutofit fontScale="90000"/>
          </a:bodyPr>
          <a:lstStyle/>
          <a:p>
            <a:r>
              <a:rPr lang="en-US" dirty="0"/>
              <a:t>Prostate Cancer &amp; Gleason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CFE69-3B40-DACF-2F65-82C8FBD21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72" y="1352699"/>
            <a:ext cx="11937856" cy="758495"/>
          </a:xfrm>
        </p:spPr>
        <p:txBody>
          <a:bodyPr>
            <a:normAutofit fontScale="92500"/>
          </a:bodyPr>
          <a:lstStyle/>
          <a:p>
            <a:pPr marL="0" lvl="2" indent="0">
              <a:buNone/>
            </a:pPr>
            <a:r>
              <a:rPr lang="en-US" dirty="0">
                <a:solidFill>
                  <a:schemeClr val="tx1"/>
                </a:solidFill>
              </a:rPr>
              <a:t>The Gleason grading system is used to assess </a:t>
            </a:r>
            <a:r>
              <a:rPr lang="en-US" b="1" dirty="0">
                <a:solidFill>
                  <a:srgbClr val="002060"/>
                </a:solidFill>
              </a:rPr>
              <a:t>how aggressive the cancer is</a:t>
            </a:r>
            <a:r>
              <a:rPr lang="en-US" dirty="0">
                <a:solidFill>
                  <a:schemeClr val="tx1"/>
                </a:solidFill>
              </a:rPr>
              <a:t>, based on glandular architecture seen in H&amp;E-stained biopsy tissue. This grade influence treatment decisions: surveillance vs surgery/radiation.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409D1A-5C37-2235-55AA-FB2CC756F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919A-1AF4-8143-B305-C972D12AEE0C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 descr="A diagram of a pattern&#10;&#10;AI-generated content may be incorrect.">
            <a:extLst>
              <a:ext uri="{FF2B5EF4-FFF2-40B4-BE49-F238E27FC236}">
                <a16:creationId xmlns:a16="http://schemas.microsoft.com/office/drawing/2014/main" id="{9A5C4085-24C1-D9D6-CE12-B2932929A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57" y="2111194"/>
            <a:ext cx="5298711" cy="3965629"/>
          </a:xfrm>
          <a:prstGeom prst="rect">
            <a:avLst/>
          </a:prstGeom>
        </p:spPr>
      </p:pic>
      <p:pic>
        <p:nvPicPr>
          <p:cNvPr id="10" name="Picture 9" descr="A close-up of several cells&#10;&#10;AI-generated content may be incorrect.">
            <a:extLst>
              <a:ext uri="{FF2B5EF4-FFF2-40B4-BE49-F238E27FC236}">
                <a16:creationId xmlns:a16="http://schemas.microsoft.com/office/drawing/2014/main" id="{0B9F1031-3B85-158D-489C-035825F9A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672" y="2658746"/>
            <a:ext cx="6472257" cy="238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1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8E1DA-7493-695A-1399-A6736DD85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AE782-5BF5-5600-3376-9DFC92AA7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885" y="386432"/>
            <a:ext cx="5947448" cy="418715"/>
          </a:xfrm>
        </p:spPr>
        <p:txBody>
          <a:bodyPr>
            <a:normAutofit fontScale="90000"/>
          </a:bodyPr>
          <a:lstStyle/>
          <a:p>
            <a:r>
              <a:rPr lang="en-US" dirty="0"/>
              <a:t>Why Automate Tissue Segmentation?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3DFB59-4D0E-6142-F63B-E5B6162F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9919A-1AF4-8143-B305-C972D12AEE0C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 descr="A close-up of several cells&#10;&#10;AI-generated content may be incorrect.">
            <a:extLst>
              <a:ext uri="{FF2B5EF4-FFF2-40B4-BE49-F238E27FC236}">
                <a16:creationId xmlns:a16="http://schemas.microsoft.com/office/drawing/2014/main" id="{9CC1F49A-3D7C-514E-9A26-773538A3D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041" y="2778304"/>
            <a:ext cx="6472257" cy="238227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46AE4-E93A-C299-A6BC-C2E3D74A2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20" y="1685209"/>
            <a:ext cx="5277721" cy="1171908"/>
          </a:xfrm>
        </p:spPr>
        <p:txBody>
          <a:bodyPr>
            <a:normAutofit fontScale="85000" lnSpcReduction="200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Manual Gleason grading is </a:t>
            </a:r>
            <a:r>
              <a:rPr lang="en-US" b="0" dirty="0">
                <a:solidFill>
                  <a:schemeClr val="accent1"/>
                </a:solidFill>
              </a:rPr>
              <a:t>time-consuming</a:t>
            </a:r>
            <a:r>
              <a:rPr lang="en-US" b="0" dirty="0">
                <a:solidFill>
                  <a:schemeClr val="tx1"/>
                </a:solidFill>
              </a:rPr>
              <a:t> and subject to </a:t>
            </a:r>
            <a:r>
              <a:rPr lang="en-US" b="0" dirty="0">
                <a:solidFill>
                  <a:schemeClr val="accent1"/>
                </a:solidFill>
              </a:rPr>
              <a:t>interobserver variability</a:t>
            </a:r>
            <a:r>
              <a:rPr lang="en-US" b="0" dirty="0">
                <a:solidFill>
                  <a:schemeClr val="tx1"/>
                </a:solidFill>
              </a:rPr>
              <a:t>, especially between intermediate grades.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00C317-A81F-4575-3FA4-5C3E388EEB46}"/>
              </a:ext>
            </a:extLst>
          </p:cNvPr>
          <p:cNvSpPr txBox="1"/>
          <p:nvPr/>
        </p:nvSpPr>
        <p:spPr>
          <a:xfrm>
            <a:off x="290319" y="3558132"/>
            <a:ext cx="5448541" cy="1241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67" dirty="0"/>
              <a:t>Automated segmentation into benign epithelium, stroma, and Gleason patterns will: </a:t>
            </a:r>
            <a:r>
              <a:rPr lang="en-US" sz="1867" dirty="0">
                <a:solidFill>
                  <a:srgbClr val="0070C0"/>
                </a:solidFill>
              </a:rPr>
              <a:t>a) standardize diagnosis</a:t>
            </a:r>
            <a:r>
              <a:rPr lang="en-US" sz="1867" dirty="0"/>
              <a:t>, and </a:t>
            </a:r>
            <a:r>
              <a:rPr lang="en-US" sz="1867" dirty="0">
                <a:solidFill>
                  <a:srgbClr val="0070C0"/>
                </a:solidFill>
              </a:rPr>
              <a:t>b) enable large-scale analysis across thousands of cases</a:t>
            </a:r>
          </a:p>
        </p:txBody>
      </p:sp>
    </p:spTree>
    <p:extLst>
      <p:ext uri="{BB962C8B-B14F-4D97-AF65-F5344CB8AC3E}">
        <p14:creationId xmlns:p14="http://schemas.microsoft.com/office/powerpoint/2010/main" val="2185785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FFFE96-81B2-2932-0CF6-DB25B3216B94}"/>
              </a:ext>
            </a:extLst>
          </p:cNvPr>
          <p:cNvSpPr txBox="1"/>
          <p:nvPr/>
        </p:nvSpPr>
        <p:spPr>
          <a:xfrm>
            <a:off x="290623" y="95693"/>
            <a:ext cx="10845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(Image and Mask Pairs)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B372D-590A-F881-BCAC-FB4EC14F4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23" y="598217"/>
            <a:ext cx="3096275" cy="1739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A8A289-5FD9-892B-01D4-FCF73450C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140" y="670123"/>
            <a:ext cx="1782860" cy="159519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E58352F-C205-553D-70FB-7E2B2FD167C9}"/>
              </a:ext>
            </a:extLst>
          </p:cNvPr>
          <p:cNvCxnSpPr>
            <a:stCxn id="5" idx="3"/>
          </p:cNvCxnSpPr>
          <p:nvPr/>
        </p:nvCxnSpPr>
        <p:spPr>
          <a:xfrm flipV="1">
            <a:off x="3386898" y="1467718"/>
            <a:ext cx="72252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1C972A7-6CDB-E3A4-9407-9D2C1BAE6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047" y="777921"/>
            <a:ext cx="2443377" cy="13795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744321-4243-ABA7-A565-E62D9FC58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4845" y="865569"/>
            <a:ext cx="1574851" cy="120429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90FE4F-7C2C-5F49-8F45-478AC3556ABE}"/>
              </a:ext>
            </a:extLst>
          </p:cNvPr>
          <p:cNvCxnSpPr/>
          <p:nvPr/>
        </p:nvCxnSpPr>
        <p:spPr>
          <a:xfrm flipV="1">
            <a:off x="9273124" y="1383449"/>
            <a:ext cx="72252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9881A8E-7B71-ABA5-04D4-472FCBBE9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13" y="2631412"/>
            <a:ext cx="2637549" cy="149157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221FBA-D7AE-F259-CBA2-45A67ED94B65}"/>
              </a:ext>
            </a:extLst>
          </p:cNvPr>
          <p:cNvCxnSpPr/>
          <p:nvPr/>
        </p:nvCxnSpPr>
        <p:spPr>
          <a:xfrm flipV="1">
            <a:off x="3152023" y="3377200"/>
            <a:ext cx="722523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2876CB6-BA92-BE37-00BF-0FCA496B17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8014" y="2764668"/>
            <a:ext cx="1667857" cy="122506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C4EA53D-AD86-A4DA-6E3F-6A1AA6E91E9F}"/>
              </a:ext>
            </a:extLst>
          </p:cNvPr>
          <p:cNvSpPr txBox="1"/>
          <p:nvPr/>
        </p:nvSpPr>
        <p:spPr>
          <a:xfrm>
            <a:off x="6029692" y="2500036"/>
            <a:ext cx="59651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0: background (non-tissue) or unknown</a:t>
            </a:r>
            <a:br>
              <a:rPr lang="en-US" dirty="0"/>
            </a:b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1: stroma (connective tissue, non-epithelium tissue)</a:t>
            </a:r>
            <a:br>
              <a:rPr lang="en-US" dirty="0"/>
            </a:b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2: healthy (benign) epithelium</a:t>
            </a:r>
            <a:br>
              <a:rPr lang="en-US" dirty="0"/>
            </a:b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3: cancerous epithelium (Gleason 3)</a:t>
            </a:r>
            <a:br>
              <a:rPr lang="en-US" dirty="0"/>
            </a:b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4: cancerous epithelium (Gleason 4)</a:t>
            </a:r>
            <a:br>
              <a:rPr lang="en-US" dirty="0"/>
            </a:b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5: cancerous epithelium (Gleason 5)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F97FE37-B2E2-D29F-C020-AD3CAD4205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0623" y="4393572"/>
            <a:ext cx="7772400" cy="4245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8E7B38-7278-4E5C-F80F-0E175A1D2E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623" y="4939365"/>
            <a:ext cx="7772400" cy="4509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E15A01D-E885-09FC-867A-455B605827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623" y="5568651"/>
            <a:ext cx="9964242" cy="42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7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D2B99D-894F-FF75-EE50-594AD57ABD97}"/>
              </a:ext>
            </a:extLst>
          </p:cNvPr>
          <p:cNvSpPr txBox="1"/>
          <p:nvPr/>
        </p:nvSpPr>
        <p:spPr>
          <a:xfrm>
            <a:off x="276447" y="74428"/>
            <a:ext cx="1133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(Recap of Last Meetings) Module 1: Loading of Slide-Mask Pairs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89CD7D-BCCF-CEB1-8D56-70F4AE155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28" y="583609"/>
            <a:ext cx="6619205" cy="11911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419457-A2D5-8354-F1D1-52EB96052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92" y="1886332"/>
            <a:ext cx="2997068" cy="16650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06B6D3-1C53-3998-B919-995B065FC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703" y="1886332"/>
            <a:ext cx="3207355" cy="154266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9BC4406-7E3A-D224-5967-2A51F807B347}"/>
              </a:ext>
            </a:extLst>
          </p:cNvPr>
          <p:cNvCxnSpPr>
            <a:cxnSpLocks/>
          </p:cNvCxnSpPr>
          <p:nvPr/>
        </p:nvCxnSpPr>
        <p:spPr>
          <a:xfrm>
            <a:off x="3388660" y="2571078"/>
            <a:ext cx="9574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25669B0-2E06-5155-3C06-DBA95B927FD6}"/>
              </a:ext>
            </a:extLst>
          </p:cNvPr>
          <p:cNvSpPr txBox="1"/>
          <p:nvPr/>
        </p:nvSpPr>
        <p:spPr>
          <a:xfrm>
            <a:off x="2341067" y="3530227"/>
            <a:ext cx="3629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Coupled image and mask files dataset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86A940-A435-DD7E-8D93-F968C715D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503" y="4143848"/>
            <a:ext cx="1533503" cy="1762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789CD7-D4F8-E5AC-CCFD-5CDA964EF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795" y="4143848"/>
            <a:ext cx="1375699" cy="161101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F031454-3CEC-56D4-26CA-62EF5F5B9397}"/>
              </a:ext>
            </a:extLst>
          </p:cNvPr>
          <p:cNvCxnSpPr>
            <a:cxnSpLocks/>
          </p:cNvCxnSpPr>
          <p:nvPr/>
        </p:nvCxnSpPr>
        <p:spPr>
          <a:xfrm>
            <a:off x="2551006" y="4864250"/>
            <a:ext cx="191469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23949C6-D927-DD53-045A-5797595F02AE}"/>
              </a:ext>
            </a:extLst>
          </p:cNvPr>
          <p:cNvSpPr txBox="1"/>
          <p:nvPr/>
        </p:nvSpPr>
        <p:spPr>
          <a:xfrm>
            <a:off x="2551006" y="4949356"/>
            <a:ext cx="2043789" cy="338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Matched dimensions</a:t>
            </a:r>
          </a:p>
        </p:txBody>
      </p:sp>
    </p:spTree>
    <p:extLst>
      <p:ext uri="{BB962C8B-B14F-4D97-AF65-F5344CB8AC3E}">
        <p14:creationId xmlns:p14="http://schemas.microsoft.com/office/powerpoint/2010/main" val="234574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CC5A47-C770-3116-A460-2FD8A63BEAF4}"/>
              </a:ext>
            </a:extLst>
          </p:cNvPr>
          <p:cNvSpPr txBox="1"/>
          <p:nvPr/>
        </p:nvSpPr>
        <p:spPr>
          <a:xfrm>
            <a:off x="276447" y="74428"/>
            <a:ext cx="1133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(Recap of Last Meetings) Module 2: Data Visualization and Exploratory Data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C8B5BD-8599-E717-A07C-993281ACB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47" y="601765"/>
            <a:ext cx="5051612" cy="10601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BA04C7-EED1-F930-4CF5-E46D1790A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876" y="1516042"/>
            <a:ext cx="4883395" cy="3693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4D9722-4B4E-78CB-CBDA-E7DEE622F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6401" y="430899"/>
            <a:ext cx="1841500" cy="1028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C19EB2-7D9D-BDDC-55C6-74C4901657BB}"/>
              </a:ext>
            </a:extLst>
          </p:cNvPr>
          <p:cNvSpPr txBox="1"/>
          <p:nvPr/>
        </p:nvSpPr>
        <p:spPr>
          <a:xfrm>
            <a:off x="9068960" y="1947106"/>
            <a:ext cx="28973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Summary of signal to background ratios in masks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40EA9F-5D12-C633-D9E5-787CB9F40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3169" y="2602848"/>
            <a:ext cx="5546464" cy="4558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7B14BB-53E9-2B2E-AA8B-4EAE94A596B6}"/>
              </a:ext>
            </a:extLst>
          </p:cNvPr>
          <p:cNvSpPr txBox="1"/>
          <p:nvPr/>
        </p:nvSpPr>
        <p:spPr>
          <a:xfrm>
            <a:off x="8553104" y="3090446"/>
            <a:ext cx="35280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Summary of class presence in masks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31B1FB-C1FB-8447-3902-317A91252C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166" y="3583840"/>
            <a:ext cx="2917967" cy="5567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EFAA41-1180-4B9F-148B-04D064AB7A3D}"/>
              </a:ext>
            </a:extLst>
          </p:cNvPr>
          <p:cNvSpPr txBox="1"/>
          <p:nvPr/>
        </p:nvSpPr>
        <p:spPr>
          <a:xfrm>
            <a:off x="8293501" y="4295397"/>
            <a:ext cx="3876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Summary of class distributions in masks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DBE29C-BC09-F701-0ECF-C731D29B0E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166" y="4633951"/>
            <a:ext cx="2897311" cy="20513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BC065B-E78C-3B77-48E4-8270F9627A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2435" y="4140557"/>
            <a:ext cx="4282435" cy="2573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7E1E685-2E9E-F521-0A2B-D48BA4BE3D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993" y="1700708"/>
            <a:ext cx="4141556" cy="24901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2B34DAB-17D6-DE29-D345-73D91757878F}"/>
              </a:ext>
            </a:extLst>
          </p:cNvPr>
          <p:cNvSpPr txBox="1"/>
          <p:nvPr/>
        </p:nvSpPr>
        <p:spPr>
          <a:xfrm>
            <a:off x="4476666" y="2875358"/>
            <a:ext cx="15842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Tile-wise plots by distribution of classes</a:t>
            </a:r>
          </a:p>
        </p:txBody>
      </p:sp>
    </p:spTree>
    <p:extLst>
      <p:ext uri="{BB962C8B-B14F-4D97-AF65-F5344CB8AC3E}">
        <p14:creationId xmlns:p14="http://schemas.microsoft.com/office/powerpoint/2010/main" val="4021701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7C1190-0604-CCE1-6F36-1DD23E91B1CF}"/>
              </a:ext>
            </a:extLst>
          </p:cNvPr>
          <p:cNvSpPr txBox="1"/>
          <p:nvPr/>
        </p:nvSpPr>
        <p:spPr>
          <a:xfrm>
            <a:off x="276447" y="74428"/>
            <a:ext cx="1133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(Recap of Last Meetings) Module 3: Image Pre-Preprocessing Using Normalization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D65EEB-5B3D-8883-B39B-3A8D88578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3" y="619881"/>
            <a:ext cx="4133338" cy="9445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C85D56-083D-96AA-8937-8A26E79FF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47" y="1564472"/>
            <a:ext cx="1990165" cy="6934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555606-5E73-52D7-ABCB-676984D996DD}"/>
              </a:ext>
            </a:extLst>
          </p:cNvPr>
          <p:cNvSpPr txBox="1"/>
          <p:nvPr/>
        </p:nvSpPr>
        <p:spPr>
          <a:xfrm>
            <a:off x="276447" y="2170509"/>
            <a:ext cx="22085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Min-max normalization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D408E6-0133-EB03-1D42-227CCCD5F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82" y="5209388"/>
            <a:ext cx="2649633" cy="11281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80A7D9-B5E8-1F3C-16CD-0DF8E9C89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67" y="2544546"/>
            <a:ext cx="2060928" cy="1373952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4B764F-1E16-459B-457A-E3DB6798F0BA}"/>
              </a:ext>
            </a:extLst>
          </p:cNvPr>
          <p:cNvCxnSpPr>
            <a:cxnSpLocks/>
          </p:cNvCxnSpPr>
          <p:nvPr/>
        </p:nvCxnSpPr>
        <p:spPr>
          <a:xfrm flipH="1">
            <a:off x="1440399" y="3918498"/>
            <a:ext cx="1" cy="847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8F0CF3D-3D2B-BC56-7FF0-1B531908890C}"/>
              </a:ext>
            </a:extLst>
          </p:cNvPr>
          <p:cNvSpPr txBox="1"/>
          <p:nvPr/>
        </p:nvSpPr>
        <p:spPr>
          <a:xfrm>
            <a:off x="158112" y="4941949"/>
            <a:ext cx="2649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Channel-wise normalization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28165B-2118-EA7B-7DE6-0B490777DF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8379" y="2193339"/>
            <a:ext cx="6665919" cy="345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96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9A7A39-4795-6C66-967D-38939154B641}"/>
              </a:ext>
            </a:extLst>
          </p:cNvPr>
          <p:cNvSpPr txBox="1"/>
          <p:nvPr/>
        </p:nvSpPr>
        <p:spPr>
          <a:xfrm>
            <a:off x="276447" y="74428"/>
            <a:ext cx="1133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(Agenda for Today’s Meeting) Module 4: PyTorch Dataset Class and Data Loaders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4E817-C2DC-4B24-20F9-A6E343A32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38" y="533006"/>
            <a:ext cx="5195944" cy="11967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E50EA7-054E-D186-1919-F726A598F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" y="1873165"/>
            <a:ext cx="3528234" cy="2193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E2238C-A266-EDBE-DDF3-7FB8B7E91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47" y="4740408"/>
            <a:ext cx="4152422" cy="11967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809944-2D05-34DC-021F-0A845298E7A4}"/>
              </a:ext>
            </a:extLst>
          </p:cNvPr>
          <p:cNvSpPr txBox="1"/>
          <p:nvPr/>
        </p:nvSpPr>
        <p:spPr>
          <a:xfrm>
            <a:off x="924853" y="5942252"/>
            <a:ext cx="2649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Tile-wise processing of PANDA dataset images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F9BC1D-ACCF-5FAE-A3AA-CF80A2FEFE8C}"/>
              </a:ext>
            </a:extLst>
          </p:cNvPr>
          <p:cNvSpPr txBox="1"/>
          <p:nvPr/>
        </p:nvSpPr>
        <p:spPr>
          <a:xfrm>
            <a:off x="1027844" y="4111012"/>
            <a:ext cx="2649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Custom dataset class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06F3A1-14E2-8088-054C-72621EA23F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3876" y="641424"/>
            <a:ext cx="3753898" cy="10883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C509A8-CA60-1D43-448C-28E3A07C753C}"/>
              </a:ext>
            </a:extLst>
          </p:cNvPr>
          <p:cNvSpPr txBox="1"/>
          <p:nvPr/>
        </p:nvSpPr>
        <p:spPr>
          <a:xfrm>
            <a:off x="5368006" y="1665222"/>
            <a:ext cx="4216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Dataset class iterates over image tiles, tuple contains image file and tile coordinates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DDBB4F-06B6-3250-5314-D437F11BCE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9084" y="728403"/>
            <a:ext cx="2100326" cy="24642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2A23B8-5414-0C6F-33F0-57F2708F5D12}"/>
              </a:ext>
            </a:extLst>
          </p:cNvPr>
          <p:cNvSpPr txBox="1"/>
          <p:nvPr/>
        </p:nvSpPr>
        <p:spPr>
          <a:xfrm>
            <a:off x="10282369" y="3192685"/>
            <a:ext cx="1280748" cy="342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Example tile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74DC42-A8EE-6117-7123-1E0A9158F8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9582" y="5432898"/>
            <a:ext cx="3177027" cy="4697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EE2D4A-10C6-01F3-054F-89C2329726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3109" y="2413716"/>
            <a:ext cx="3906496" cy="285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73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9DAF7E-6FC2-8989-821F-FD490B77495F}"/>
              </a:ext>
            </a:extLst>
          </p:cNvPr>
          <p:cNvSpPr txBox="1"/>
          <p:nvPr/>
        </p:nvSpPr>
        <p:spPr>
          <a:xfrm>
            <a:off x="276447" y="74428"/>
            <a:ext cx="1133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(Recap of Last Meetings) Module 5: Image (Tile) Data Augmentation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B10AB-708E-5624-528F-3899A6EF5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4" y="443760"/>
            <a:ext cx="4087906" cy="10202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209650-9E87-4172-5DEE-AC69E9D6C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73" y="3429000"/>
            <a:ext cx="2608879" cy="5667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8ECD3-6847-6B27-7D82-2995F0705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47" y="1608805"/>
            <a:ext cx="3454801" cy="18201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34A9F7-DB66-2047-3701-2CDFA66A9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512" y="3429000"/>
            <a:ext cx="2901453" cy="5667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D388D7-FD82-03A3-3B76-2C6DB861EE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4837" y="1586492"/>
            <a:ext cx="3454801" cy="17729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822F05-9169-AC41-8178-4C97B9ECA8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0130" y="3321765"/>
            <a:ext cx="2756495" cy="5667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16ED49-D543-78E8-B860-4E48DE8556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3227" y="1464025"/>
            <a:ext cx="3634442" cy="18831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E94273-ADDE-4E2B-6A80-36E2711F80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447" y="5935908"/>
            <a:ext cx="3981414" cy="4783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D2DBD4-E0BE-9CCF-BD35-75D0BD34A1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638" y="4265753"/>
            <a:ext cx="3132148" cy="16133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78BC9C-6C51-87A5-6708-5FD0D1A208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66714" y="5879093"/>
            <a:ext cx="2611045" cy="5127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E13C02-FE7C-1900-C490-080FA981EF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58792" y="4094450"/>
            <a:ext cx="3540846" cy="17846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088690B-4553-9B36-8D47-D0DA4C0D3EC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7297" y="5879093"/>
            <a:ext cx="3031286" cy="5667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B01519-7C04-8B7D-0E36-86CA9F0C88E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34141" y="3995924"/>
            <a:ext cx="3649098" cy="188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694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F62BD7-5EE7-830F-EDA9-A2CB5E29AE1D}"/>
              </a:ext>
            </a:extLst>
          </p:cNvPr>
          <p:cNvSpPr txBox="1"/>
          <p:nvPr/>
        </p:nvSpPr>
        <p:spPr>
          <a:xfrm>
            <a:off x="276447" y="74428"/>
            <a:ext cx="11337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(Agenda for Today’s Meeting) Module 6: Loss Function and Metrics for Semantic Segmentation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E0E64C-9386-67A7-A043-BEE150948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24" y="6272328"/>
            <a:ext cx="2534620" cy="5566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F95539-D8AD-3886-682E-BF9DF18EE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410" y="3953806"/>
            <a:ext cx="1524000" cy="381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77CC17-0BB9-457A-F6EE-95EA7C032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66" y="4229486"/>
            <a:ext cx="3276600" cy="71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E23A07-8DD6-747F-F711-9088E21B9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410" y="4920826"/>
            <a:ext cx="1549400" cy="330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661860-3D6C-8D0A-1665-7A293927C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349" y="5140163"/>
            <a:ext cx="3182671" cy="6700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F8598F-3B4D-A58B-8484-A821C0920B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5570" y="5848595"/>
            <a:ext cx="1511300" cy="330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2C2033-E2F0-89FE-D835-52A325A445D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24128"/>
          <a:stretch>
            <a:fillRect/>
          </a:stretch>
        </p:blipFill>
        <p:spPr>
          <a:xfrm>
            <a:off x="8404814" y="6213771"/>
            <a:ext cx="2073233" cy="6349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B973287-6351-2FBC-787C-B7030C689C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1803" y="3383666"/>
            <a:ext cx="1803400" cy="660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4A094C-DFB7-7D11-2250-681D30B680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4675" y="3365670"/>
            <a:ext cx="1803400" cy="660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BB8A478-D5DE-3A59-B676-4274E7139716}"/>
              </a:ext>
            </a:extLst>
          </p:cNvPr>
          <p:cNvSpPr txBox="1"/>
          <p:nvPr/>
        </p:nvSpPr>
        <p:spPr>
          <a:xfrm>
            <a:off x="6798151" y="3984081"/>
            <a:ext cx="1970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Ground truth mask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80D298-7A13-B99F-BD8D-505CB62626A4}"/>
              </a:ext>
            </a:extLst>
          </p:cNvPr>
          <p:cNvSpPr txBox="1"/>
          <p:nvPr/>
        </p:nvSpPr>
        <p:spPr>
          <a:xfrm>
            <a:off x="10243150" y="3943550"/>
            <a:ext cx="1654925" cy="337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Predicted mask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84DF48F-6C32-CBE9-C417-4C5CA5FDC3F3}"/>
              </a:ext>
            </a:extLst>
          </p:cNvPr>
          <p:cNvCxnSpPr/>
          <p:nvPr/>
        </p:nvCxnSpPr>
        <p:spPr>
          <a:xfrm>
            <a:off x="8857622" y="3679973"/>
            <a:ext cx="10542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E8B744D-ED0D-47AB-7A12-9D29993F156B}"/>
              </a:ext>
            </a:extLst>
          </p:cNvPr>
          <p:cNvSpPr txBox="1"/>
          <p:nvPr/>
        </p:nvSpPr>
        <p:spPr>
          <a:xfrm>
            <a:off x="8917330" y="3746085"/>
            <a:ext cx="1567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IOU=1.0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352E484-830B-058A-3708-8BFA7EC006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1803" y="4307833"/>
            <a:ext cx="1803400" cy="660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16D81A0-FC05-1BF4-522A-188E213A60F8}"/>
              </a:ext>
            </a:extLst>
          </p:cNvPr>
          <p:cNvSpPr txBox="1"/>
          <p:nvPr/>
        </p:nvSpPr>
        <p:spPr>
          <a:xfrm>
            <a:off x="6798151" y="4908248"/>
            <a:ext cx="1970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Ground truth mask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79C2057-BEB2-BD50-85B0-498B2A0F294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1871" y="4322382"/>
            <a:ext cx="2055295" cy="56149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AF9B226-36BC-88ED-2252-3513AC66BE0F}"/>
              </a:ext>
            </a:extLst>
          </p:cNvPr>
          <p:cNvSpPr txBox="1"/>
          <p:nvPr/>
        </p:nvSpPr>
        <p:spPr>
          <a:xfrm>
            <a:off x="10168912" y="4857671"/>
            <a:ext cx="1654925" cy="337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Predicted mask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0B03449-2ABE-EE1A-0081-7A525D4C69EA}"/>
              </a:ext>
            </a:extLst>
          </p:cNvPr>
          <p:cNvCxnSpPr/>
          <p:nvPr/>
        </p:nvCxnSpPr>
        <p:spPr>
          <a:xfrm>
            <a:off x="8790314" y="4542941"/>
            <a:ext cx="10542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31FB53A-FBDC-F07F-0093-7585B8A9E29B}"/>
              </a:ext>
            </a:extLst>
          </p:cNvPr>
          <p:cNvSpPr txBox="1"/>
          <p:nvPr/>
        </p:nvSpPr>
        <p:spPr>
          <a:xfrm>
            <a:off x="8752511" y="4588366"/>
            <a:ext cx="1567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IOU=0.33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0071721-D5C9-30C1-5742-9FB008794C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5459" y="5353343"/>
            <a:ext cx="1803400" cy="660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9796493-EEA5-B4B2-C0CC-D60E04D5AA2C}"/>
              </a:ext>
            </a:extLst>
          </p:cNvPr>
          <p:cNvSpPr txBox="1"/>
          <p:nvPr/>
        </p:nvSpPr>
        <p:spPr>
          <a:xfrm>
            <a:off x="6781807" y="5953758"/>
            <a:ext cx="19707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Ground truth mask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8EE7146-2FF2-33E0-A7E8-C25B6614A9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44562" y="5395655"/>
            <a:ext cx="2292949" cy="634971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267D1E2-1CD4-B625-D463-18288BA22550}"/>
              </a:ext>
            </a:extLst>
          </p:cNvPr>
          <p:cNvCxnSpPr/>
          <p:nvPr/>
        </p:nvCxnSpPr>
        <p:spPr>
          <a:xfrm>
            <a:off x="8790314" y="5581030"/>
            <a:ext cx="10542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69E1CBC-12AE-FE23-E05E-B1F022EB9D75}"/>
              </a:ext>
            </a:extLst>
          </p:cNvPr>
          <p:cNvSpPr txBox="1"/>
          <p:nvPr/>
        </p:nvSpPr>
        <p:spPr>
          <a:xfrm>
            <a:off x="8752511" y="5626455"/>
            <a:ext cx="1567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IOU=0.00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6B9C00-9206-E83B-493F-E0D50550D4C5}"/>
              </a:ext>
            </a:extLst>
          </p:cNvPr>
          <p:cNvSpPr txBox="1"/>
          <p:nvPr/>
        </p:nvSpPr>
        <p:spPr>
          <a:xfrm>
            <a:off x="7209046" y="2704991"/>
            <a:ext cx="4216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Intersection over Union (IOU) between ground truth and predicted mask pairs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FA7997-44CA-5359-2891-D1622A2732E9}"/>
              </a:ext>
            </a:extLst>
          </p:cNvPr>
          <p:cNvSpPr txBox="1"/>
          <p:nvPr/>
        </p:nvSpPr>
        <p:spPr>
          <a:xfrm>
            <a:off x="10243149" y="5973924"/>
            <a:ext cx="1654925" cy="337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Predicted mask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5413D31-DBDA-4C91-04A4-2EE9271C5EEC}"/>
              </a:ext>
            </a:extLst>
          </p:cNvPr>
          <p:cNvGrpSpPr/>
          <p:nvPr/>
        </p:nvGrpSpPr>
        <p:grpSpPr>
          <a:xfrm>
            <a:off x="-12254" y="600230"/>
            <a:ext cx="6165893" cy="2763657"/>
            <a:chOff x="165677" y="748906"/>
            <a:chExt cx="4092401" cy="2001393"/>
          </a:xfrm>
        </p:grpSpPr>
        <p:pic>
          <p:nvPicPr>
            <p:cNvPr id="3" name="Picture 2" descr="A diagram of a algorithm&#10;&#10;AI-generated content may be incorrect.">
              <a:extLst>
                <a:ext uri="{FF2B5EF4-FFF2-40B4-BE49-F238E27FC236}">
                  <a16:creationId xmlns:a16="http://schemas.microsoft.com/office/drawing/2014/main" id="{ECEF9FE8-C521-9522-A9DE-068F06BA1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65677" y="748906"/>
              <a:ext cx="4092401" cy="2001393"/>
            </a:xfrm>
            <a:prstGeom prst="rect">
              <a:avLst/>
            </a:prstGeom>
          </p:spPr>
        </p:pic>
        <p:pic>
          <p:nvPicPr>
            <p:cNvPr id="16" name="Picture 15" descr="A diagram of a algorithm&#10;&#10;AI-generated content may be incorrect.">
              <a:extLst>
                <a:ext uri="{FF2B5EF4-FFF2-40B4-BE49-F238E27FC236}">
                  <a16:creationId xmlns:a16="http://schemas.microsoft.com/office/drawing/2014/main" id="{57F3DE24-DBC0-A335-127C-BCA21288B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5222"/>
            <a:stretch>
              <a:fillRect/>
            </a:stretch>
          </p:blipFill>
          <p:spPr>
            <a:xfrm>
              <a:off x="1153660" y="1118583"/>
              <a:ext cx="1286940" cy="686438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1AB573C-3883-7A5F-364A-C9B82B97133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8479" y="3274578"/>
            <a:ext cx="3098800" cy="723900"/>
          </a:xfrm>
          <a:prstGeom prst="rect">
            <a:avLst/>
          </a:prstGeom>
        </p:spPr>
      </p:pic>
      <p:pic>
        <p:nvPicPr>
          <p:cNvPr id="33" name="Picture 32" descr="A diagram of a line&#10;&#10;AI-generated content may be incorrect.">
            <a:extLst>
              <a:ext uri="{FF2B5EF4-FFF2-40B4-BE49-F238E27FC236}">
                <a16:creationId xmlns:a16="http://schemas.microsoft.com/office/drawing/2014/main" id="{29BEC495-6754-BC66-5103-E56F1776FB6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5738" y="532595"/>
            <a:ext cx="2722989" cy="2144902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DD3DC0A-D6A3-479E-3B47-DD6143A8990A}"/>
              </a:ext>
            </a:extLst>
          </p:cNvPr>
          <p:cNvCxnSpPr/>
          <p:nvPr/>
        </p:nvCxnSpPr>
        <p:spPr>
          <a:xfrm>
            <a:off x="1324303" y="840828"/>
            <a:ext cx="2182976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D4FA45E-418D-A100-A8EC-B7E25ED77839}"/>
              </a:ext>
            </a:extLst>
          </p:cNvPr>
          <p:cNvCxnSpPr>
            <a:cxnSpLocks/>
          </p:cNvCxnSpPr>
          <p:nvPr/>
        </p:nvCxnSpPr>
        <p:spPr>
          <a:xfrm flipH="1">
            <a:off x="1329164" y="2243470"/>
            <a:ext cx="2182976" cy="0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4C3CD88-D48B-3DBD-3825-2173839B4FB0}"/>
              </a:ext>
            </a:extLst>
          </p:cNvPr>
          <p:cNvSpPr txBox="1"/>
          <p:nvPr/>
        </p:nvSpPr>
        <p:spPr>
          <a:xfrm>
            <a:off x="1671144" y="570805"/>
            <a:ext cx="1228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Forward pass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59C390-64AD-AFBE-7241-242C427F37DF}"/>
              </a:ext>
            </a:extLst>
          </p:cNvPr>
          <p:cNvSpPr txBox="1"/>
          <p:nvPr/>
        </p:nvSpPr>
        <p:spPr>
          <a:xfrm>
            <a:off x="570554" y="2292922"/>
            <a:ext cx="34299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Backward pass (model parameter update)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C85A1-1D9F-EC15-43CE-346D0CAEEEDF}"/>
              </a:ext>
            </a:extLst>
          </p:cNvPr>
          <p:cNvSpPr txBox="1"/>
          <p:nvPr/>
        </p:nvSpPr>
        <p:spPr>
          <a:xfrm>
            <a:off x="9051585" y="1135836"/>
            <a:ext cx="2995988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</a:rPr>
              <a:t>1 epoch = </a:t>
            </a:r>
            <a:r>
              <a:rPr lang="en-US" sz="1100" dirty="0">
                <a:effectLst/>
              </a:rPr>
              <a:t>One complete pass of the entire training dataset</a:t>
            </a:r>
            <a:r>
              <a:rPr lang="en-US" sz="1100" dirty="0"/>
              <a:t> through the neural network</a:t>
            </a:r>
          </a:p>
          <a:p>
            <a:r>
              <a:rPr lang="en-US" sz="1100" b="1" dirty="0"/>
              <a:t>Early stopping </a:t>
            </a:r>
            <a:r>
              <a:rPr lang="en-US" sz="1100" dirty="0"/>
              <a:t>– Determine when to stop model training</a:t>
            </a:r>
          </a:p>
          <a:p>
            <a:r>
              <a:rPr lang="en-US" sz="1100" b="0" i="0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endParaRPr lang="en-US" sz="11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7326982-B87E-F6DB-2B73-5FFBA6DAA172}"/>
              </a:ext>
            </a:extLst>
          </p:cNvPr>
          <p:cNvSpPr txBox="1"/>
          <p:nvPr/>
        </p:nvSpPr>
        <p:spPr>
          <a:xfrm>
            <a:off x="-95906" y="2979964"/>
            <a:ext cx="22192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Cross-entropy loss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05D6AC-44E0-DD88-424C-36D987DB0D17}"/>
              </a:ext>
            </a:extLst>
          </p:cNvPr>
          <p:cNvSpPr txBox="1"/>
          <p:nvPr/>
        </p:nvSpPr>
        <p:spPr>
          <a:xfrm>
            <a:off x="10781576" y="558789"/>
            <a:ext cx="12426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 err="1"/>
              <a:t>www.medium.com</a:t>
            </a:r>
            <a:endParaRPr 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1581330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437</Words>
  <Application>Microsoft Macintosh PowerPoint</Application>
  <PresentationFormat>Widescreen</PresentationFormat>
  <Paragraphs>71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Google Sans</vt:lpstr>
      <vt:lpstr>Inter</vt:lpstr>
      <vt:lpstr>Times New Roman</vt:lpstr>
      <vt:lpstr>Office Theme</vt:lpstr>
      <vt:lpstr>PowerPoint Presentation</vt:lpstr>
      <vt:lpstr>Prostate Cancer &amp; Gleason Grading</vt:lpstr>
      <vt:lpstr>Why Automate Tissue Segmentation?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Sharma, Rish</dc:creator>
  <cp:lastModifiedBy>Vasanthakumari, Priyanka</cp:lastModifiedBy>
  <cp:revision>43</cp:revision>
  <dcterms:created xsi:type="dcterms:W3CDTF">2025-04-22T20:20:38Z</dcterms:created>
  <dcterms:modified xsi:type="dcterms:W3CDTF">2026-04-06T19:44:20Z</dcterms:modified>
</cp:coreProperties>
</file>